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0" r:id="rId5"/>
  </p:sldMasterIdLst>
  <p:notesMasterIdLst>
    <p:notesMasterId r:id="rId17"/>
  </p:notesMasterIdLst>
  <p:handoutMasterIdLst>
    <p:handoutMasterId r:id="rId18"/>
  </p:handoutMasterIdLst>
  <p:sldIdLst>
    <p:sldId id="264" r:id="rId6"/>
    <p:sldId id="2147470097" r:id="rId7"/>
    <p:sldId id="2147470089" r:id="rId8"/>
    <p:sldId id="2147470090" r:id="rId9"/>
    <p:sldId id="2147470091" r:id="rId10"/>
    <p:sldId id="2147470092" r:id="rId11"/>
    <p:sldId id="2147470095" r:id="rId12"/>
    <p:sldId id="2147470093" r:id="rId13"/>
    <p:sldId id="2147470094" r:id="rId14"/>
    <p:sldId id="2147470096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Section" id="{2B5385C8-BE7B-764A-8CA2-176C95013D35}">
          <p14:sldIdLst>
            <p14:sldId id="264"/>
            <p14:sldId id="2147470097"/>
            <p14:sldId id="2147470089"/>
            <p14:sldId id="2147470090"/>
            <p14:sldId id="2147470091"/>
            <p14:sldId id="2147470092"/>
            <p14:sldId id="2147470095"/>
            <p14:sldId id="2147470093"/>
            <p14:sldId id="2147470094"/>
            <p14:sldId id="2147470096"/>
          </p14:sldIdLst>
        </p14:section>
        <p14:section name="Thank You" id="{F63B307F-DDAF-4D0E-BD31-3B515431C268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9AC238-A280-261B-20F6-126FB49B1F1F}" name="Sindhu K" initials="SK" userId="S::2000096233@hexaware.com::75232236-f915-4bf0-a2c5-78ce34240a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2CDA"/>
    <a:srgbClr val="000000"/>
    <a:srgbClr val="271FC1"/>
    <a:srgbClr val="EEF2F4"/>
    <a:srgbClr val="CBD0E5"/>
    <a:srgbClr val="08126E"/>
    <a:srgbClr val="281DBB"/>
    <a:srgbClr val="EEE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F58DF-8E77-44C0-BE6E-D221EBC0F638}" v="27" dt="2025-10-06T10:55:04.975"/>
    <p1510:client id="{2BADAD61-ACD7-05DD-AC6C-0422FA839AC1}" v="209" dt="2025-10-06T05:31:00.790"/>
    <p1510:client id="{476BF8E5-C3EA-8696-2376-349DECA01406}" v="51" dt="2025-10-06T11:09:01.625"/>
    <p1510:client id="{5796EDB2-E654-16A7-D7F2-4DCC30322B48}" v="203" vWet="205" dt="2025-10-06T10:54:50.906"/>
    <p1510:client id="{73F4AEFA-354C-4C54-9698-FDEB891BB5E3}" v="1826" dt="2025-10-06T10:14:21.845"/>
    <p1510:client id="{93674D4D-84D3-4081-8F90-28AD707FBCA4}" v="4" dt="2025-10-06T09:53:28.649"/>
    <p1510:client id="{9DBD38D7-73F3-EA86-CE5D-62B846578918}" v="662" dt="2025-10-06T13:42:17.093"/>
    <p1510:client id="{D0D04E67-6AAF-5105-5F24-C5A9B612DA7E}" v="916" dt="2025-10-06T11:36:03.255"/>
    <p1510:client id="{DE9782A1-9116-DB8E-0381-21BB4BFFE39F}" v="57" dt="2025-10-06T10:31:06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1B2259-9883-6F94-1165-B4F149D910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2DFEC-917D-E7FD-8926-11E6D834EB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3DF90-B6E1-4448-A065-6EC0CBAAEEAA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88B84-9FF3-B2B6-03B4-760A9E1406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CFA06-FBBA-EA5B-5C6A-264498FA2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99D79-6FE1-1B41-9FA7-F185D9BA7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75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ECAE251F-E50B-4AA0-A361-BF69B56A7095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331CD59D-0597-43DC-9404-9BA5D1B501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1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3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75B5-FA03-AACC-3724-E78ABD75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A1441-482A-2E9D-D808-96B975DF8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2D8CE-F4DF-AB1C-1B61-3F7F23755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E14AD-C27B-E2AD-F113-3F5915B2A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62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5A9A-B132-8597-F8AB-0EA873B8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52F6F-DF86-9F55-DD04-4CBA94E99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8E4C5-07AD-93BE-0381-D9E9E1039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141D-45B3-D9C2-4382-BD87A8718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21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795C-D43A-1DB2-921F-FB241B9B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94722-21D8-61E3-A820-544BEB325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BFC72-3A96-1EEF-CD48-4805E005F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A3DFF-D458-9878-D709-6301AE731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6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2777-2594-F828-64AB-F48244A27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75181-22A2-6D97-BA27-B89E8AF52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84968-012B-3C4B-C73D-3AF5A66A4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481BC-D494-FEA2-5E2C-1C00254AD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8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D041-02AC-E155-5224-0FEFA177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ED709-8ABE-DBD3-97CF-CDFAD0A44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C6517-F07E-FEEC-0E3C-9ECF85617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2B316-ED9A-8D97-F4E6-421CD8B58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15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32E0-CF9A-8277-27B0-9FDDF559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CD1E4-CE91-2BA9-A079-41E9E8BC4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5CE9C-5C3E-DCC5-5020-F36ED6E40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A94B6-E842-05A4-E3FE-2213441EC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38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6DD5-5DF3-DA9A-C1BD-E1FC8073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47D47-4F25-F0F1-62DC-6D233179D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575BFB5-B153-A509-F6BE-3F40BB9FB6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/>
                  <a:t>📊 Accuracy Calculation</a:t>
                </a:r>
              </a:p>
              <a:p>
                <a:r>
                  <a:rPr lang="en-US" b="1"/>
                  <a:t>1. Individual Accuracy (Per Label)</a:t>
                </a:r>
              </a:p>
              <a:p>
                <a:r>
                  <a:rPr lang="en-US"/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Accuracy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1"/>
                            <m:t>Label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True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Positives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TP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Ground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Truth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Count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GT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Manrope" pitchFamily="2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ar-AE" b="0"/>
              </a:p>
              <a:p>
                <a:r>
                  <a:rPr lang="en-US"/>
                  <a:t>Examples:</a:t>
                </a:r>
              </a:p>
              <a:p>
                <a:r>
                  <a:rPr lang="en-US" b="1"/>
                  <a:t>YES</a:t>
                </a:r>
                <a:r>
                  <a:rPr lang="en-US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14</m:t>
                        </m:r>
                      </m:num>
                      <m:den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27</m:t>
                        </m:r>
                      </m:den>
                    </m:f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5185</m:t>
                    </m:r>
                    <m:r>
                      <m:rPr>
                        <m:nor/>
                      </m:rPr>
                      <a:rPr lang="ar-AE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or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51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85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%</m:t>
                    </m:r>
                  </m:oMath>
                </a14:m>
                <a:endParaRPr lang="en-US" b="0"/>
              </a:p>
              <a:p>
                <a:r>
                  <a:rPr lang="en-US" b="1"/>
                  <a:t>NO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46</m:t>
                        </m:r>
                      </m:num>
                      <m:den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64</m:t>
                        </m:r>
                      </m:den>
                    </m:f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7188</m:t>
                    </m:r>
                    <m:r>
                      <m:rPr>
                        <m:nor/>
                      </m:rPr>
                      <a:rPr lang="ar-AE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or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71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88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%</m:t>
                    </m:r>
                  </m:oMath>
                </a14:m>
                <a:endParaRPr lang="en-US" b="0"/>
              </a:p>
              <a:p>
                <a:r>
                  <a:rPr lang="en-US" b="1"/>
                  <a:t>NA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42</m:t>
                        </m:r>
                      </m:num>
                      <m:den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56</m:t>
                        </m:r>
                      </m:den>
                    </m:f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7500</m:t>
                    </m:r>
                    <m:r>
                      <m:rPr>
                        <m:nor/>
                      </m:rPr>
                      <a:rPr lang="ar-AE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or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75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%</m:t>
                    </m:r>
                  </m:oMath>
                </a14:m>
                <a:endParaRPr lang="en-US" b="0"/>
              </a:p>
              <a:p>
                <a:br>
                  <a:rPr lang="en-US"/>
                </a:br>
                <a:endParaRPr lang="en-US"/>
              </a:p>
              <a:p>
                <a:r>
                  <a:rPr lang="en-US" b="1"/>
                  <a:t>2. Total Accuracy (Overall)</a:t>
                </a:r>
              </a:p>
              <a:p>
                <a:r>
                  <a:rPr lang="en-US"/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Total</m:t>
                      </m:r>
                      <m:r>
                        <m:rPr>
                          <m:nor/>
                        </m:rPr>
                        <a:rPr lang="en-US" b="0" i="1"/>
                        <m:t> </m:t>
                      </m:r>
                      <m:r>
                        <m:rPr>
                          <m:nor/>
                        </m:rPr>
                        <a:rPr lang="en-US" b="0" i="1"/>
                        <m:t>Accuracy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Manrope" pitchFamily="2" charset="0"/>
                                  <a:ea typeface="+mn-ea"/>
                                  <a:cs typeface="+mn-cs"/>
                                </a:rPr>
                                <m:t>TP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Manrope" pitchFamily="2" charset="0"/>
                                  <a:ea typeface="+mn-ea"/>
                                  <a:cs typeface="+mn-cs"/>
                                </a:rPr>
                                <m:t>GT</m:t>
                              </m:r>
                            </m:e>
                          </m:nary>
                        </m:den>
                      </m:f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102</m:t>
                          </m:r>
                        </m:num>
                        <m:den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147</m:t>
                          </m:r>
                        </m:den>
                      </m:f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6939</m:t>
                      </m:r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69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39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%</m:t>
                      </m:r>
                    </m:oMath>
                  </m:oMathPara>
                </a14:m>
                <a:endParaRPr lang="en-US" b="0"/>
              </a:p>
              <a:p>
                <a:endParaRPr lang="en-US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575BFB5-B153-A509-F6BE-3F40BB9FB6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/>
                  <a:t>📊 Accuracy Calculation</a:t>
                </a:r>
              </a:p>
              <a:p>
                <a:r>
                  <a:rPr lang="en-US" b="1"/>
                  <a:t>1. Individual Accuracy (Per Label)</a:t>
                </a:r>
              </a:p>
              <a:p>
                <a:r>
                  <a:rPr lang="en-US"/>
                  <a:t>Formula:</a:t>
                </a:r>
              </a:p>
              <a:p>
                <a:pPr/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〖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en-US" b="0" i="0"/>
                  <a:t>Accuracy</a:t>
                </a:r>
                <a:r>
                  <a:rPr lang="en-US" b="0" i="0">
                    <a:latin typeface="Cambria Math" panose="02040503050406030204" pitchFamily="18" charset="0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〗_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en-US" b="0" i="0"/>
                  <a:t>Label</a:t>
                </a:r>
                <a:r>
                  <a:rPr lang="en-US" b="0" i="0">
                    <a:latin typeface="Cambria Math" panose="02040503050406030204" pitchFamily="18" charset="0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=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Manrope" pitchFamily="2" charset="0"/>
                    <a:ea typeface="+mn-ea"/>
                    <a:cs typeface="+mn-cs"/>
                  </a:rPr>
                  <a:t>"True Positives (TP)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/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Manrope" pitchFamily="2" charset="0"/>
                    <a:ea typeface="+mn-ea"/>
                    <a:cs typeface="+mn-cs"/>
                  </a:rPr>
                  <a:t>Ground Truth Count (GT)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endParaRPr lang="ar-AE" b="0"/>
              </a:p>
              <a:p>
                <a:r>
                  <a:rPr lang="en-US"/>
                  <a:t>Examples:</a:t>
                </a:r>
              </a:p>
              <a:p>
                <a:r>
                  <a:rPr lang="en-US" b="1"/>
                  <a:t>YES</a:t>
                </a:r>
                <a:r>
                  <a:rPr lang="en-US"/>
                  <a:t>: 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14/27=0.5185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or " 51.85%</a:t>
                </a:r>
                <a:endParaRPr lang="en-US" b="0"/>
              </a:p>
              <a:p>
                <a:r>
                  <a:rPr lang="en-US" b="1"/>
                  <a:t>NO</a:t>
                </a:r>
                <a:r>
                  <a:rPr lang="en-US"/>
                  <a:t>: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46/64=0.7188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or " 71.88%</a:t>
                </a:r>
                <a:endParaRPr lang="en-US" b="0"/>
              </a:p>
              <a:p>
                <a:r>
                  <a:rPr lang="en-US" b="1"/>
                  <a:t>NA</a:t>
                </a:r>
                <a:r>
                  <a:rPr lang="en-US"/>
                  <a:t>: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42/56=0.7500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or " 75.00%</a:t>
                </a:r>
                <a:endParaRPr lang="en-US" b="0"/>
              </a:p>
              <a:p>
                <a:br>
                  <a:rPr lang="en-US"/>
                </a:br>
                <a:endParaRPr lang="en-US"/>
              </a:p>
              <a:p>
                <a:r>
                  <a:rPr lang="en-US" b="1"/>
                  <a:t>2. Total Accuracy (Overall)</a:t>
                </a:r>
              </a:p>
              <a:p>
                <a:r>
                  <a:rPr lang="en-US"/>
                  <a:t>Formula:</a:t>
                </a:r>
              </a:p>
              <a:p>
                <a:pPr/>
                <a:r>
                  <a:rPr lang="en-US" b="0" i="0">
                    <a:latin typeface="Cambria Math" panose="02040503050406030204" pitchFamily="18" charset="0"/>
                  </a:rPr>
                  <a:t>"Total Accuracy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(∑128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▒"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Manrope" pitchFamily="2" charset="0"/>
                    <a:ea typeface="+mn-ea"/>
                    <a:cs typeface="+mn-cs"/>
                  </a:rPr>
                  <a:t>TP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)/(∑128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▒"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Manrope" pitchFamily="2" charset="0"/>
                    <a:ea typeface="+mn-ea"/>
                    <a:cs typeface="+mn-cs"/>
                  </a:rPr>
                  <a:t>GT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)=102/147=0.6939"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or " 69.39%</a:t>
                </a:r>
                <a:endParaRPr lang="en-US" b="0"/>
              </a:p>
              <a:p>
                <a:endParaRPr lang="en-US">
                  <a:latin typeface="Calibri"/>
                  <a:ea typeface="Calibri"/>
                  <a:cs typeface="Calibri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4DB1D-FA45-4574-DA1D-2BBFA8719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75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1E66-34BD-A3C7-A9D8-8DC5BDE09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25744-9BFC-649F-AE16-1F470D5F2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57289-0C23-F4CC-B545-63B86BEB6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2C16-8DF9-0F1A-6B44-6E32155D6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/>
              <a:t>Replace with brand-approved image </a:t>
            </a:r>
            <a:br>
              <a:rPr lang="en-US"/>
            </a:br>
            <a:r>
              <a:rPr lang="en-US"/>
              <a:t>of your choice from </a:t>
            </a:r>
            <a:r>
              <a:rPr lang="en-US" err="1"/>
              <a:t>SalesCentral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519BD3-2A15-83F6-8541-93001D69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07845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Deck Title/Main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7FFEB-A63D-7128-BD14-C91E8A94E52A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2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FC992F-4FDC-3A9F-0EA2-73D4A2F79E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964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00862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00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75300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4176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888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888" y="2259101"/>
            <a:ext cx="5400675" cy="22288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37160" indent="-137160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lang="en-US" sz="1200" spc="10" baseline="0" dirty="0">
                <a:latin typeface="+mj-lt"/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38900" y="914401"/>
            <a:ext cx="5753100" cy="4856084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9445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79445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5002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5002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90559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0559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786278"/>
            <a:ext cx="5300664" cy="17485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Case study: Client description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391951"/>
            <a:ext cx="529272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Compelling hook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H="1">
            <a:off x="623888" y="457200"/>
            <a:ext cx="5300664" cy="216401"/>
          </a:xfrm>
          <a:prstGeom prst="rect">
            <a:avLst/>
          </a:prstGeom>
        </p:spPr>
        <p:txBody>
          <a:bodyPr wrap="square" lIns="0" tIns="36000" rIns="0" bIns="0" anchor="t" anchorCtr="0">
            <a:no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Business Unit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F26795-5969-0635-78C3-63A2CFC3E4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512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40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pos="3795" userDrawn="1">
          <p15:clr>
            <a:srgbClr val="FBAE40"/>
          </p15:clr>
        </p15:guide>
        <p15:guide id="7" pos="40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with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888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888" y="2259101"/>
            <a:ext cx="5400675" cy="22288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37160" indent="-13716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lang="en-US" sz="1200" spc="10" baseline="0" dirty="0">
                <a:latin typeface="+mj-lt"/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38900" y="914401"/>
            <a:ext cx="5753100" cy="4856084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9445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79445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5002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5002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90559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0559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786278"/>
            <a:ext cx="5300664" cy="17485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Case study: Client description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391951"/>
            <a:ext cx="5292725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Compelling hook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H="1">
            <a:off x="623888" y="457200"/>
            <a:ext cx="5300664" cy="216401"/>
          </a:xfrm>
          <a:prstGeom prst="rect">
            <a:avLst/>
          </a:prstGeom>
        </p:spPr>
        <p:txBody>
          <a:bodyPr wrap="square" lIns="0" tIns="36000" rIns="0" bIns="0" anchor="t" anchorCtr="0">
            <a:no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Business Unit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F26795-5969-0635-78C3-63A2CFC3E4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AB14D727-AE35-74B6-7123-2B8ADA30FEC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547412" y="194455"/>
            <a:ext cx="1291871" cy="409853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sz="900" dirty="0"/>
            </a:lvl1pPr>
          </a:lstStyle>
          <a:p>
            <a:pPr marL="228600" lvl="0" indent="-228600" algn="ctr"/>
            <a:r>
              <a:rPr lang="en-US"/>
              <a:t>Client logo here.</a:t>
            </a:r>
          </a:p>
        </p:txBody>
      </p:sp>
    </p:spTree>
    <p:extLst>
      <p:ext uri="{BB962C8B-B14F-4D97-AF65-F5344CB8AC3E}">
        <p14:creationId xmlns:p14="http://schemas.microsoft.com/office/powerpoint/2010/main" val="1300655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40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pos="3795" userDrawn="1">
          <p15:clr>
            <a:srgbClr val="FBAE40"/>
          </p15:clr>
        </p15:guide>
        <p15:guide id="7" pos="40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023B6BF-6BEC-44B3-16FD-D8AD3240A4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/>
              <a:t>Replace with brand-approved image </a:t>
            </a:r>
            <a:br>
              <a:rPr lang="en-US"/>
            </a:br>
            <a:r>
              <a:rPr lang="en-US"/>
              <a:t>of your choice from </a:t>
            </a:r>
            <a:r>
              <a:rPr lang="en-US" err="1"/>
              <a:t>SalesCentral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857625"/>
            <a:ext cx="818064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9B85627-C772-5EFB-A063-1191C3E2A3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3274796"/>
            <a:ext cx="7328535" cy="3048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Deck Title/Main Idea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9B6927-ECC4-B8DD-4D37-1E96DB1E0D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92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/>
              <a:t>Replace with brand-approved image </a:t>
            </a:r>
            <a:br>
              <a:rPr lang="en-US"/>
            </a:br>
            <a:r>
              <a:rPr lang="en-US"/>
              <a:t>of your choice from </a:t>
            </a:r>
            <a:r>
              <a:rPr lang="en-US" err="1"/>
              <a:t>SalesCentral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3039710"/>
            <a:ext cx="9264015" cy="76174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Quotes/Statements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F5C101-3AED-153B-C82B-8B61A30168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F22B60-3A0B-2802-A96C-D3BBE975C036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585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35587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500">
                <a:solidFill>
                  <a:schemeClr val="bg2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2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57AFB80-6C53-A18C-7FEF-6CAEDC4A6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B9604-38F2-3FB9-7EAE-F929A08B46DA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73989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35587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5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1B1B2-864D-DAA1-E37B-5AF3B309E6ED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ADA5CE-3411-C91A-6526-A8678FD411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2091739"/>
            <a:ext cx="488499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74EB1B-5E89-24D3-37E1-BE7FA96AAA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5470881"/>
            <a:ext cx="1414402" cy="1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7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/>
          </a:p>
        </p:txBody>
      </p:sp>
    </p:spTree>
    <p:extLst>
      <p:ext uri="{BB962C8B-B14F-4D97-AF65-F5344CB8AC3E}">
        <p14:creationId xmlns:p14="http://schemas.microsoft.com/office/powerpoint/2010/main" val="2809869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Deck Title/Main Idea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8409DB-CB7B-4169-181C-8AC7B3B37EC7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0399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DC9056D-0F0D-85E8-271E-778B65526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9E093-06FF-D167-A76E-CF4FFD813A7C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7590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0A526-A5A2-A405-EAF5-731C3A9CCC62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1722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00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75300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F5721-09A8-C795-2E2B-2C53C15943A8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86546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-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/>
              <a:t>Replace with brand-approved image </a:t>
            </a:r>
            <a:br>
              <a:rPr lang="en-US"/>
            </a:br>
            <a:r>
              <a:rPr lang="en-US"/>
              <a:t>of your choice from </a:t>
            </a:r>
            <a:r>
              <a:rPr lang="en-US" err="1"/>
              <a:t>SalesCentral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96AE751-2F54-4367-5763-1CA2907051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DD50AA0C-0C3E-74E8-926C-4A0ADFFEE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260680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52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78" r:id="rId2"/>
    <p:sldLayoutId id="2147483679" r:id="rId3"/>
    <p:sldLayoutId id="2147483704" r:id="rId4"/>
    <p:sldLayoutId id="2147483705" r:id="rId5"/>
    <p:sldLayoutId id="2147483674" r:id="rId6"/>
    <p:sldLayoutId id="2147483703" r:id="rId7"/>
    <p:sldLayoutId id="2147483657" r:id="rId8"/>
    <p:sldLayoutId id="2147483706" r:id="rId9"/>
    <p:sldLayoutId id="2147483658" r:id="rId10"/>
    <p:sldLayoutId id="2147483707" r:id="rId11"/>
    <p:sldLayoutId id="2147483656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5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hyperlink" Target="http://www.hexawa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D3441D7-963D-3D01-B20F-F198E1241C1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875" y="28575"/>
            <a:ext cx="12192000" cy="6858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9B6B28-C97E-B751-A437-74F38528C9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6" y="3995"/>
            <a:ext cx="12327193" cy="68579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7241648-4C0F-2BB4-442C-4C9A265870D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10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835" y="467957"/>
            <a:ext cx="1554480" cy="2086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31EACD-1D42-450C-7CAE-2CDBF0F7C2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0676" y="120101"/>
            <a:ext cx="622478" cy="6957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BECCB-1FA0-1408-69FB-41E8EA43D949}"/>
              </a:ext>
            </a:extLst>
          </p:cNvPr>
          <p:cNvSpPr txBox="1"/>
          <p:nvPr/>
        </p:nvSpPr>
        <p:spPr>
          <a:xfrm>
            <a:off x="4209173" y="2532798"/>
            <a:ext cx="4390162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Manrope"/>
              </a:rPr>
              <a:t>Gen AI Tool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3E926-A6A8-6EFC-DFF0-AD446559DC11}"/>
              </a:ext>
            </a:extLst>
          </p:cNvPr>
          <p:cNvSpPr txBox="1"/>
          <p:nvPr/>
        </p:nvSpPr>
        <p:spPr>
          <a:xfrm>
            <a:off x="2527585" y="3460910"/>
            <a:ext cx="754033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Manrope" pitchFamily="2" charset="0"/>
              </a:rPr>
              <a:t>Automated Impact Assessment Form Completion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148AD6-2324-1417-EFF2-9F72E8159BA3}"/>
              </a:ext>
            </a:extLst>
          </p:cNvPr>
          <p:cNvSpPr txBox="1"/>
          <p:nvPr/>
        </p:nvSpPr>
        <p:spPr>
          <a:xfrm>
            <a:off x="4899309" y="4060984"/>
            <a:ext cx="216823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Manrope"/>
              </a:rPr>
              <a:t>GEHC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24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437A6-09CE-3C26-98FC-D97C5E590D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H="1">
            <a:off x="1083959" y="468160"/>
            <a:ext cx="8172450" cy="414625"/>
          </a:xfrm>
        </p:spPr>
        <p:txBody>
          <a:bodyPr/>
          <a:lstStyle/>
          <a:p>
            <a:r>
              <a:rPr lang="en-US" sz="2800" b="1"/>
              <a:t>POC Objective</a:t>
            </a:r>
            <a:endParaRPr lang="en-US" sz="24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14793-EAC0-D8E0-7238-9CBDCD6F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EB2DDB-F504-866D-1EB1-19A362C8C64E}"/>
              </a:ext>
            </a:extLst>
          </p:cNvPr>
          <p:cNvSpPr txBox="1"/>
          <p:nvPr/>
        </p:nvSpPr>
        <p:spPr>
          <a:xfrm>
            <a:off x="1082837" y="1233383"/>
            <a:ext cx="9391548" cy="35548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>
              <a:solidFill>
                <a:srgbClr val="0D0D0D"/>
              </a:solidFill>
              <a:latin typeface="Manrope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Tool to leverage AI/Gen AI capabilities to analyze the context of a proposed design changes and automatically populate relevant sections of the 147-question impact assessment form.</a:t>
            </a:r>
          </a:p>
          <a:p>
            <a:pPr>
              <a:lnSpc>
                <a:spcPct val="150000"/>
              </a:lnSpc>
            </a:pPr>
            <a:br>
              <a:rPr lang="en-US">
                <a:solidFill>
                  <a:srgbClr val="0D0D0D"/>
                </a:solidFill>
                <a:latin typeface="Manrope" pitchFamily="2" charset="0"/>
              </a:rPr>
            </a:br>
            <a:r>
              <a:rPr lang="en-US">
                <a:solidFill>
                  <a:srgbClr val="0D0D0D"/>
                </a:solidFill>
                <a:latin typeface="Manrope" pitchFamily="2" charset="0"/>
              </a:rPr>
              <a:t>The AI will be trained on relevant GE HealthCare anonymized historical design change data and its relevant assessment form.</a:t>
            </a: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rgbClr val="0D0D0D"/>
                </a:solidFill>
                <a:latin typeface="Manrope" pitchFamily="2" charset="0"/>
              </a:rPr>
              <a:t>Training: GA2.1.2 to 2.1.5, Testing: GA2.1.6</a:t>
            </a:r>
          </a:p>
          <a:p>
            <a:endParaRPr lang="en-US">
              <a:latin typeface="Manrop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73556-860F-A702-8D2D-5323ED87DD97}"/>
              </a:ext>
            </a:extLst>
          </p:cNvPr>
          <p:cNvSpPr txBox="1"/>
          <p:nvPr/>
        </p:nvSpPr>
        <p:spPr>
          <a:xfrm>
            <a:off x="1082837" y="4797250"/>
            <a:ext cx="2675382" cy="400110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r>
              <a:rPr lang="en-US" sz="2000" b="1"/>
              <a:t>Success Criteria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01509-B9B1-B532-72DF-97A27DBF636E}"/>
              </a:ext>
            </a:extLst>
          </p:cNvPr>
          <p:cNvSpPr txBox="1"/>
          <p:nvPr/>
        </p:nvSpPr>
        <p:spPr>
          <a:xfrm>
            <a:off x="1085827" y="54003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Target Accuracy ~ </a:t>
            </a:r>
            <a:r>
              <a:rPr lang="en-US" b="1"/>
              <a:t>60–70%</a:t>
            </a:r>
          </a:p>
        </p:txBody>
      </p:sp>
    </p:spTree>
    <p:extLst>
      <p:ext uri="{BB962C8B-B14F-4D97-AF65-F5344CB8AC3E}">
        <p14:creationId xmlns:p14="http://schemas.microsoft.com/office/powerpoint/2010/main" val="35409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58CD-8AE3-D430-9860-61FD7FBD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063108-2DD5-72DD-B288-1412AC0A7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E503E251-7296-1FB1-B8E2-298F26C27A9A}"/>
              </a:ext>
            </a:extLst>
          </p:cNvPr>
          <p:cNvSpPr txBox="1">
            <a:spLocks/>
          </p:cNvSpPr>
          <p:nvPr/>
        </p:nvSpPr>
        <p:spPr>
          <a:xfrm flipH="1">
            <a:off x="830845" y="205959"/>
            <a:ext cx="8890508" cy="694496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Technical Architecture</a:t>
            </a:r>
          </a:p>
        </p:txBody>
      </p:sp>
      <p:pic>
        <p:nvPicPr>
          <p:cNvPr id="3" name="Picture 2" descr="A diagram of a impact assessment form automation&#10;&#10;AI-generated content may be incorrect.">
            <a:extLst>
              <a:ext uri="{FF2B5EF4-FFF2-40B4-BE49-F238E27FC236}">
                <a16:creationId xmlns:a16="http://schemas.microsoft.com/office/drawing/2014/main" id="{52EA2CAE-8B7F-77CA-E69D-853B6F964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914" y="1334022"/>
            <a:ext cx="6495268" cy="433335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8129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73D5-BCE6-0EA3-F73C-F60BA49E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69197C-3DB3-C9A8-9378-516E9C1B5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23FC61E-C1B9-44CC-C3FC-668E193DCE4B}"/>
              </a:ext>
            </a:extLst>
          </p:cNvPr>
          <p:cNvSpPr txBox="1">
            <a:spLocks/>
          </p:cNvSpPr>
          <p:nvPr/>
        </p:nvSpPr>
        <p:spPr>
          <a:xfrm flipH="1">
            <a:off x="789093" y="180007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Training Phase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831B96-2464-BFC5-0108-26EB3B929A55}"/>
              </a:ext>
            </a:extLst>
          </p:cNvPr>
          <p:cNvSpPr/>
          <p:nvPr/>
        </p:nvSpPr>
        <p:spPr>
          <a:xfrm>
            <a:off x="1008298" y="2005341"/>
            <a:ext cx="2561304" cy="284731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Input Data</a:t>
            </a: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1.Release stories </a:t>
            </a:r>
          </a:p>
          <a:p>
            <a:r>
              <a:rPr lang="en-US">
                <a:solidFill>
                  <a:schemeClr val="tx1"/>
                </a:solidFill>
              </a:rPr>
              <a:t>2.IAF Tracker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3.Abbreviations</a:t>
            </a:r>
          </a:p>
          <a:p>
            <a:r>
              <a:rPr lang="en-US">
                <a:solidFill>
                  <a:schemeClr val="tx1"/>
                </a:solidFill>
              </a:rPr>
              <a:t>4.Glossary</a:t>
            </a:r>
          </a:p>
          <a:p>
            <a:r>
              <a:rPr lang="en-US">
                <a:solidFill>
                  <a:schemeClr val="tx1"/>
                </a:solidFill>
              </a:rPr>
              <a:t>5.Rules file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(GA 2.1.2 to 2.1.5)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B5808C-CB85-9006-6C7A-BBD2010D7829}"/>
              </a:ext>
            </a:extLst>
          </p:cNvPr>
          <p:cNvSpPr/>
          <p:nvPr/>
        </p:nvSpPr>
        <p:spPr>
          <a:xfrm>
            <a:off x="8622400" y="2005341"/>
            <a:ext cx="2489234" cy="284731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Output</a:t>
            </a:r>
            <a:br>
              <a:rPr lang="en-US" sz="2000" b="1">
                <a:solidFill>
                  <a:schemeClr val="accent3">
                    <a:lumMod val="75000"/>
                  </a:schemeClr>
                </a:solidFill>
              </a:rPr>
            </a:br>
            <a:endParaRPr lang="en-US" sz="2000" b="1">
              <a:solidFill>
                <a:schemeClr val="accent3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Azure Open AI Fine-Tuned Model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(on top of gpt-4o-mini model)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6F025B-420F-5113-3BAE-660BC4B5A78E}"/>
              </a:ext>
            </a:extLst>
          </p:cNvPr>
          <p:cNvSpPr/>
          <p:nvPr/>
        </p:nvSpPr>
        <p:spPr>
          <a:xfrm>
            <a:off x="4003449" y="3905658"/>
            <a:ext cx="4381091" cy="138593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Fine-tune using Azure OpenAI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Supervised training on labelled 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64C56E-4687-F5FD-AE50-547A689E22D2}"/>
              </a:ext>
            </a:extLst>
          </p:cNvPr>
          <p:cNvCxnSpPr>
            <a:cxnSpLocks/>
          </p:cNvCxnSpPr>
          <p:nvPr/>
        </p:nvCxnSpPr>
        <p:spPr>
          <a:xfrm>
            <a:off x="3556902" y="2764948"/>
            <a:ext cx="9291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5FACBD-90A9-4255-FCD2-99F69FC8B8DD}"/>
              </a:ext>
            </a:extLst>
          </p:cNvPr>
          <p:cNvCxnSpPr>
            <a:cxnSpLocks/>
          </p:cNvCxnSpPr>
          <p:nvPr/>
        </p:nvCxnSpPr>
        <p:spPr>
          <a:xfrm>
            <a:off x="8379254" y="4664728"/>
            <a:ext cx="357969" cy="104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D8F6CE-39E9-EF1D-E32E-7AF6C48B511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6193995" y="3543681"/>
            <a:ext cx="1" cy="3619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0EE480-D0CF-481A-7008-CAA1634FE01C}"/>
              </a:ext>
            </a:extLst>
          </p:cNvPr>
          <p:cNvSpPr/>
          <p:nvPr/>
        </p:nvSpPr>
        <p:spPr>
          <a:xfrm>
            <a:off x="4079649" y="2081542"/>
            <a:ext cx="4228691" cy="146213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Cleaning &amp;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Chunking with overlap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Semantic Enrichment Labelling</a:t>
            </a:r>
          </a:p>
        </p:txBody>
      </p:sp>
    </p:spTree>
    <p:extLst>
      <p:ext uri="{BB962C8B-B14F-4D97-AF65-F5344CB8AC3E}">
        <p14:creationId xmlns:p14="http://schemas.microsoft.com/office/powerpoint/2010/main" val="329865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0B64-CC3F-8D53-300D-64DB3490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97A574-6170-71A5-3204-52ABFB4EC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03DC8915-43A3-F5D4-98DA-5EE40438956E}"/>
              </a:ext>
            </a:extLst>
          </p:cNvPr>
          <p:cNvSpPr txBox="1">
            <a:spLocks/>
          </p:cNvSpPr>
          <p:nvPr/>
        </p:nvSpPr>
        <p:spPr>
          <a:xfrm flipH="1">
            <a:off x="423750" y="180007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Inference Phase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1254E3-EC16-ACB7-081D-98C4FF9319DC}"/>
              </a:ext>
            </a:extLst>
          </p:cNvPr>
          <p:cNvSpPr/>
          <p:nvPr/>
        </p:nvSpPr>
        <p:spPr>
          <a:xfrm>
            <a:off x="343431" y="2640724"/>
            <a:ext cx="2642009" cy="95337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Input</a:t>
            </a:r>
          </a:p>
          <a:p>
            <a:r>
              <a:rPr lang="en-US" sz="2000">
                <a:solidFill>
                  <a:schemeClr val="tx1"/>
                </a:solidFill>
              </a:rPr>
              <a:t>New release stories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31D670-4346-1951-485B-26EEDEADE82A}"/>
              </a:ext>
            </a:extLst>
          </p:cNvPr>
          <p:cNvSpPr/>
          <p:nvPr/>
        </p:nvSpPr>
        <p:spPr>
          <a:xfrm>
            <a:off x="8621078" y="1522250"/>
            <a:ext cx="3223703" cy="19067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1)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Single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Predicted: Yes /No/NA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Justification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Workflow phase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B18956-52F4-F17B-2E54-A01DFA8A7983}"/>
              </a:ext>
            </a:extLst>
          </p:cNvPr>
          <p:cNvSpPr/>
          <p:nvPr/>
        </p:nvSpPr>
        <p:spPr>
          <a:xfrm>
            <a:off x="3500519" y="1812553"/>
            <a:ext cx="4533491" cy="231088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Chunking with overlap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Semantic tagging (glossary +rules)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Embedding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FAISS Indexing (separate namespaces for NA &amp; release)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Vector search (top-k retrieval)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869B3B-F09A-2BD6-5B70-83CF3CCF2B7D}"/>
              </a:ext>
            </a:extLst>
          </p:cNvPr>
          <p:cNvSpPr/>
          <p:nvPr/>
        </p:nvSpPr>
        <p:spPr>
          <a:xfrm>
            <a:off x="3411618" y="4739849"/>
            <a:ext cx="4730341" cy="115071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Prediction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Fine-tune model using Azure OpenAI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Default Rules for NA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A19AEA-D760-418F-B14D-9A2D134A6D8E}"/>
              </a:ext>
            </a:extLst>
          </p:cNvPr>
          <p:cNvCxnSpPr>
            <a:cxnSpLocks/>
          </p:cNvCxnSpPr>
          <p:nvPr/>
        </p:nvCxnSpPr>
        <p:spPr>
          <a:xfrm>
            <a:off x="2985440" y="3225744"/>
            <a:ext cx="5150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9B3FAB-2E41-DBC2-B022-C7ADFA1B406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767265" y="4123436"/>
            <a:ext cx="9524" cy="6164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2785A5-1281-5CB5-2511-4AD19530597A}"/>
              </a:ext>
            </a:extLst>
          </p:cNvPr>
          <p:cNvSpPr/>
          <p:nvPr/>
        </p:nvSpPr>
        <p:spPr>
          <a:xfrm>
            <a:off x="8621079" y="3759967"/>
            <a:ext cx="3223702" cy="9253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2) Batch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Export to csv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64D9BC-6CBB-76D3-6E47-3D9E9E6092B4}"/>
              </a:ext>
            </a:extLst>
          </p:cNvPr>
          <p:cNvSpPr/>
          <p:nvPr/>
        </p:nvSpPr>
        <p:spPr>
          <a:xfrm>
            <a:off x="8598955" y="5014731"/>
            <a:ext cx="3267948" cy="13557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chemeClr val="accent3">
                    <a:lumMod val="75000"/>
                  </a:schemeClr>
                </a:solidFill>
              </a:rPr>
              <a:t>3) Offline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Actual vs Predicted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Performance benchmark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178513-4058-0FD8-5109-A21F1C1CE221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>
            <a:off x="10232930" y="3429000"/>
            <a:ext cx="0" cy="3309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CA2CFB-BFB4-910E-ADDE-4794A39FC73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10232929" y="4685300"/>
            <a:ext cx="1" cy="3294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23F7931-8944-062E-64C1-20B7E19032DE}"/>
              </a:ext>
            </a:extLst>
          </p:cNvPr>
          <p:cNvCxnSpPr/>
          <p:nvPr/>
        </p:nvCxnSpPr>
        <p:spPr>
          <a:xfrm flipH="1">
            <a:off x="8086725" y="2781300"/>
            <a:ext cx="571500" cy="2552700"/>
          </a:xfrm>
          <a:prstGeom prst="bentConnector3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75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DAC7-49CB-2E90-EFBA-C73BCF51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5A4AE0-BE0D-C9A4-7A4C-75CFE7A0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8D6FD74-E5AB-1BD5-20E1-B46A0B1C33A4}"/>
              </a:ext>
            </a:extLst>
          </p:cNvPr>
          <p:cNvSpPr txBox="1">
            <a:spLocks/>
          </p:cNvSpPr>
          <p:nvPr/>
        </p:nvSpPr>
        <p:spPr>
          <a:xfrm flipH="1">
            <a:off x="716024" y="180007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Tech Stack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ADF45-CA5A-48ED-B6A5-CA3129607FC1}"/>
              </a:ext>
            </a:extLst>
          </p:cNvPr>
          <p:cNvSpPr txBox="1"/>
          <p:nvPr/>
        </p:nvSpPr>
        <p:spPr>
          <a:xfrm>
            <a:off x="1008298" y="1122821"/>
            <a:ext cx="6098058" cy="5450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Programming Languages : Python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D0D0D"/>
                </a:solidFill>
                <a:latin typeface="Manrope" pitchFamily="2" charset="0"/>
              </a:rPr>
              <a:t>Core Libraries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pandas – Data manipulation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D0D0D"/>
                </a:solidFill>
                <a:latin typeface="Manrope" pitchFamily="2" charset="0"/>
              </a:rPr>
              <a:t>numpy</a:t>
            </a:r>
            <a:r>
              <a:rPr lang="en-US">
                <a:solidFill>
                  <a:srgbClr val="0D0D0D"/>
                </a:solidFill>
                <a:latin typeface="Manrope" pitchFamily="2" charset="0"/>
              </a:rPr>
              <a:t> – Vector operation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D0D0D"/>
                </a:solidFill>
                <a:latin typeface="Manrope" pitchFamily="2" charset="0"/>
              </a:rPr>
              <a:t>faiss</a:t>
            </a:r>
            <a:r>
              <a:rPr lang="en-US">
                <a:solidFill>
                  <a:srgbClr val="0D0D0D"/>
                </a:solidFill>
                <a:latin typeface="Manrope" pitchFamily="2" charset="0"/>
              </a:rPr>
              <a:t> – Similarity search index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D0D0D"/>
                </a:solidFill>
                <a:latin typeface="Manrope" pitchFamily="2" charset="0"/>
              </a:rPr>
              <a:t>openpyxl</a:t>
            </a:r>
            <a:r>
              <a:rPr lang="en-US">
                <a:solidFill>
                  <a:srgbClr val="0D0D0D"/>
                </a:solidFill>
                <a:latin typeface="Manrope" pitchFamily="2" charset="0"/>
              </a:rPr>
              <a:t> – Excel file handling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D0D0D"/>
                </a:solidFill>
                <a:latin typeface="Manrope" pitchFamily="2" charset="0"/>
              </a:rPr>
              <a:t>json</a:t>
            </a:r>
            <a:r>
              <a:rPr lang="en-US">
                <a:solidFill>
                  <a:srgbClr val="0D0D0D"/>
                </a:solidFill>
                <a:latin typeface="Manrope" pitchFamily="2" charset="0"/>
              </a:rPr>
              <a:t> – Metadata serialization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D0D0D"/>
                </a:solidFill>
                <a:latin typeface="Manrope" pitchFamily="2" charset="0"/>
              </a:rPr>
              <a:t>dotenv</a:t>
            </a:r>
            <a:r>
              <a:rPr lang="en-US">
                <a:solidFill>
                  <a:srgbClr val="0D0D0D"/>
                </a:solidFill>
                <a:latin typeface="Manrope" pitchFamily="2" charset="0"/>
              </a:rPr>
              <a:t> – Environment variable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D0D0D"/>
                </a:solidFill>
                <a:latin typeface="Manrope" pitchFamily="2" charset="0"/>
              </a:rPr>
              <a:t>Cloud Services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Azure OpenAI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Embedding Model: text-embedding-ada-002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Fine-Tuned Chat Model: gpt-4o-mini(Base)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Manrope" pitchFamily="2" charset="0"/>
              </a:rPr>
              <a:t>Vector Store : FAISS</a:t>
            </a:r>
          </a:p>
        </p:txBody>
      </p:sp>
    </p:spTree>
    <p:extLst>
      <p:ext uri="{BB962C8B-B14F-4D97-AF65-F5344CB8AC3E}">
        <p14:creationId xmlns:p14="http://schemas.microsoft.com/office/powerpoint/2010/main" val="335202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61BE-E412-48BC-45C6-6AF39567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439174-EE2D-D5D8-09CD-8ABDCC4A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FDB4E3D-50DC-7348-6E48-11FAA299004A}"/>
              </a:ext>
            </a:extLst>
          </p:cNvPr>
          <p:cNvSpPr txBox="1">
            <a:spLocks/>
          </p:cNvSpPr>
          <p:nvPr/>
        </p:nvSpPr>
        <p:spPr>
          <a:xfrm flipH="1">
            <a:off x="716024" y="180007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Training Data Insights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F9C87E-EB19-14E9-8DBC-AEB35A7DB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96196"/>
              </p:ext>
            </p:extLst>
          </p:nvPr>
        </p:nvGraphicFramePr>
        <p:xfrm>
          <a:off x="3051145" y="1477004"/>
          <a:ext cx="4706967" cy="1219200"/>
        </p:xfrm>
        <a:graphic>
          <a:graphicData uri="http://schemas.openxmlformats.org/drawingml/2006/table">
            <a:tbl>
              <a:tblPr firstRow="1">
                <a:tableStyleId>{1FECB4D8-DB02-4DC6-A0A2-4F2EBAE1DC90}</a:tableStyleId>
              </a:tblPr>
              <a:tblGrid>
                <a:gridCol w="1568989">
                  <a:extLst>
                    <a:ext uri="{9D8B030D-6E8A-4147-A177-3AD203B41FA5}">
                      <a16:colId xmlns:a16="http://schemas.microsoft.com/office/drawing/2014/main" val="985133135"/>
                    </a:ext>
                  </a:extLst>
                </a:gridCol>
                <a:gridCol w="1568989">
                  <a:extLst>
                    <a:ext uri="{9D8B030D-6E8A-4147-A177-3AD203B41FA5}">
                      <a16:colId xmlns:a16="http://schemas.microsoft.com/office/drawing/2014/main" val="2011839048"/>
                    </a:ext>
                  </a:extLst>
                </a:gridCol>
                <a:gridCol w="1568989">
                  <a:extLst>
                    <a:ext uri="{9D8B030D-6E8A-4147-A177-3AD203B41FA5}">
                      <a16:colId xmlns:a16="http://schemas.microsoft.com/office/drawing/2014/main" val="452725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Input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% of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127307"/>
                  </a:ext>
                </a:extLst>
              </a:tr>
              <a:tr h="27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Defects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72.4%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358685"/>
                  </a:ext>
                </a:extLst>
              </a:tr>
              <a:tr h="297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25.4%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750038"/>
                  </a:ext>
                </a:extLst>
              </a:tr>
              <a:tr h="217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Total 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980405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36792035-4872-B838-6821-C57B255E0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659" y="3151005"/>
            <a:ext cx="919309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D0D0D"/>
                </a:solidFill>
                <a:latin typeface="Manrope"/>
              </a:rPr>
              <a:t>Observations on SW Change set data:</a:t>
            </a:r>
            <a:endParaRPr lang="en-US"/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D0D0D"/>
                </a:solidFill>
                <a:latin typeface="Manrope"/>
              </a:rPr>
              <a:t>Defects (72.4%): </a:t>
            </a:r>
            <a:r>
              <a:rPr lang="en-US" altLang="en-US">
                <a:solidFill>
                  <a:srgbClr val="0D0D0D"/>
                </a:solidFill>
                <a:latin typeface="Manrope"/>
              </a:rPr>
              <a:t>Limited contextual information in the SW Change set.</a:t>
            </a:r>
            <a:endParaRPr lang="en-US"/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>
                <a:solidFill>
                  <a:srgbClr val="0D0D0D"/>
                </a:solidFill>
                <a:latin typeface="Manrope"/>
              </a:rPr>
              <a:t>Features (25.4%): </a:t>
            </a:r>
            <a:r>
              <a:rPr lang="en-US" altLang="en-US">
                <a:solidFill>
                  <a:srgbClr val="0D0D0D"/>
                </a:solidFill>
                <a:latin typeface="Manrope"/>
              </a:rPr>
              <a:t>Limited contextual information in the SW Change 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>
                <a:solidFill>
                  <a:srgbClr val="0D0D0D"/>
                </a:solidFill>
                <a:latin typeface="Manrope"/>
              </a:rPr>
              <a:t>Inefficient explanation on impact metrics, most of which are defaulted.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4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D27C-1E48-BFFA-D8A4-D27F455B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D8B403-07E9-1772-7405-B625978B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34A30C9-51FB-3846-B5B3-967608715AD4}"/>
              </a:ext>
            </a:extLst>
          </p:cNvPr>
          <p:cNvSpPr txBox="1">
            <a:spLocks/>
          </p:cNvSpPr>
          <p:nvPr/>
        </p:nvSpPr>
        <p:spPr>
          <a:xfrm flipH="1">
            <a:off x="935230" y="180007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Training Data Insights (Contd..)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8CD8A5-1662-2EB5-4AB2-58C58DEE4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17400"/>
              </p:ext>
            </p:extLst>
          </p:nvPr>
        </p:nvGraphicFramePr>
        <p:xfrm>
          <a:off x="2390726" y="1811058"/>
          <a:ext cx="6623334" cy="9645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670136">
                  <a:extLst>
                    <a:ext uri="{9D8B030D-6E8A-4147-A177-3AD203B41FA5}">
                      <a16:colId xmlns:a16="http://schemas.microsoft.com/office/drawing/2014/main" val="1013830535"/>
                    </a:ext>
                  </a:extLst>
                </a:gridCol>
                <a:gridCol w="979197">
                  <a:extLst>
                    <a:ext uri="{9D8B030D-6E8A-4147-A177-3AD203B41FA5}">
                      <a16:colId xmlns:a16="http://schemas.microsoft.com/office/drawing/2014/main" val="1126878977"/>
                    </a:ext>
                  </a:extLst>
                </a:gridCol>
                <a:gridCol w="1324667">
                  <a:extLst>
                    <a:ext uri="{9D8B030D-6E8A-4147-A177-3AD203B41FA5}">
                      <a16:colId xmlns:a16="http://schemas.microsoft.com/office/drawing/2014/main" val="2457880358"/>
                    </a:ext>
                  </a:extLst>
                </a:gridCol>
                <a:gridCol w="1324667">
                  <a:extLst>
                    <a:ext uri="{9D8B030D-6E8A-4147-A177-3AD203B41FA5}">
                      <a16:colId xmlns:a16="http://schemas.microsoft.com/office/drawing/2014/main" val="739617377"/>
                    </a:ext>
                  </a:extLst>
                </a:gridCol>
                <a:gridCol w="1324667">
                  <a:extLst>
                    <a:ext uri="{9D8B030D-6E8A-4147-A177-3AD203B41FA5}">
                      <a16:colId xmlns:a16="http://schemas.microsoft.com/office/drawing/2014/main" val="498467887"/>
                    </a:ext>
                  </a:extLst>
                </a:gridCol>
              </a:tblGrid>
              <a:tr h="354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Release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979359"/>
                  </a:ext>
                </a:extLst>
              </a:tr>
              <a:tr h="30231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GA2.1.2 to 2.1.5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944077"/>
                  </a:ext>
                </a:extLst>
              </a:tr>
              <a:tr h="302311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Overall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46.77%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40.31%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12.93%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986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D5ED71-772A-30E1-9C18-FC777AB68A19}"/>
              </a:ext>
            </a:extLst>
          </p:cNvPr>
          <p:cNvSpPr txBox="1"/>
          <p:nvPr/>
        </p:nvSpPr>
        <p:spPr>
          <a:xfrm>
            <a:off x="1118608" y="3273920"/>
            <a:ext cx="10088970" cy="33733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Observations on IAF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Observed</a:t>
            </a:r>
            <a:r>
              <a:rPr lang="en-US" b="1"/>
              <a:t> Class Imbalances.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YES,</a:t>
            </a:r>
            <a:r>
              <a:rPr lang="en-US"/>
              <a:t> entries are sparse, making it difficult for the model to learn consumer-impact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NO</a:t>
            </a:r>
            <a:r>
              <a:rPr lang="en-US"/>
              <a:t> entries are more frequent but often lack actionable consumer relevance.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The dominance of </a:t>
            </a:r>
            <a:r>
              <a:rPr lang="en-US" b="1"/>
              <a:t>NA</a:t>
            </a:r>
            <a:r>
              <a:rPr lang="en-US"/>
              <a:t> may bias the model toward neutral predictions. </a:t>
            </a:r>
            <a:br>
              <a:rPr lang="en-US"/>
            </a:br>
            <a:r>
              <a:rPr lang="en-US"/>
              <a:t>Note: Handled defaults via Rule Engine to avoid the bias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07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A406-6B39-006C-ED0D-F3D74309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F09571-DAFE-884E-47D0-40B10DAA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E383A33-1A41-B679-A422-53D52CE53590}"/>
              </a:ext>
            </a:extLst>
          </p:cNvPr>
          <p:cNvSpPr txBox="1">
            <a:spLocks/>
          </p:cNvSpPr>
          <p:nvPr/>
        </p:nvSpPr>
        <p:spPr>
          <a:xfrm flipH="1">
            <a:off x="601202" y="180007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b="1"/>
              <a:t>Actual vs Predicted – Evaluation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10835-AC0E-74E5-87DC-9E4A9928FD21}"/>
              </a:ext>
            </a:extLst>
          </p:cNvPr>
          <p:cNvSpPr txBox="1"/>
          <p:nvPr/>
        </p:nvSpPr>
        <p:spPr>
          <a:xfrm>
            <a:off x="875960" y="1126705"/>
            <a:ext cx="8076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Release Evaluated</a:t>
            </a:r>
            <a:r>
              <a:rPr lang="en-US"/>
              <a:t>: GA2.1.6</a:t>
            </a:r>
          </a:p>
          <a:p>
            <a:r>
              <a:rPr lang="en-US" b="1"/>
              <a:t>Total Questions</a:t>
            </a:r>
            <a:r>
              <a:rPr lang="en-US"/>
              <a:t>: 147</a:t>
            </a:r>
          </a:p>
          <a:p>
            <a:endParaRPr lang="en-US" b="1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E96EDA-F11B-7FCB-7F9E-169807F54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38790"/>
              </p:ext>
            </p:extLst>
          </p:nvPr>
        </p:nvGraphicFramePr>
        <p:xfrm>
          <a:off x="2472905" y="1782792"/>
          <a:ext cx="6204792" cy="1676400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1551198">
                  <a:extLst>
                    <a:ext uri="{9D8B030D-6E8A-4147-A177-3AD203B41FA5}">
                      <a16:colId xmlns:a16="http://schemas.microsoft.com/office/drawing/2014/main" val="2669530165"/>
                    </a:ext>
                  </a:extLst>
                </a:gridCol>
                <a:gridCol w="1551198">
                  <a:extLst>
                    <a:ext uri="{9D8B030D-6E8A-4147-A177-3AD203B41FA5}">
                      <a16:colId xmlns:a16="http://schemas.microsoft.com/office/drawing/2014/main" val="22452863"/>
                    </a:ext>
                  </a:extLst>
                </a:gridCol>
                <a:gridCol w="1551198">
                  <a:extLst>
                    <a:ext uri="{9D8B030D-6E8A-4147-A177-3AD203B41FA5}">
                      <a16:colId xmlns:a16="http://schemas.microsoft.com/office/drawing/2014/main" val="1845742133"/>
                    </a:ext>
                  </a:extLst>
                </a:gridCol>
                <a:gridCol w="1551198">
                  <a:extLst>
                    <a:ext uri="{9D8B030D-6E8A-4147-A177-3AD203B41FA5}">
                      <a16:colId xmlns:a16="http://schemas.microsoft.com/office/drawing/2014/main" val="1334780925"/>
                    </a:ext>
                  </a:extLst>
                </a:gridCol>
              </a:tblGrid>
              <a:tr h="30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Label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GT Count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TP Count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Accuracy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987613"/>
                  </a:ext>
                </a:extLst>
              </a:tr>
              <a:tr h="30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✅ YES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~52%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738084"/>
                  </a:ext>
                </a:extLst>
              </a:tr>
              <a:tr h="30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✅ NO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~72%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526051"/>
                  </a:ext>
                </a:extLst>
              </a:tr>
              <a:tr h="30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✅ NA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~75%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64199"/>
                  </a:ext>
                </a:extLst>
              </a:tr>
              <a:tr h="30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🔵 Total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147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102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~69%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95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6BDAA46-060D-ADFC-F4E6-C71B180FB116}"/>
              </a:ext>
            </a:extLst>
          </p:cNvPr>
          <p:cNvSpPr txBox="1"/>
          <p:nvPr/>
        </p:nvSpPr>
        <p:spPr>
          <a:xfrm>
            <a:off x="789696" y="3651557"/>
            <a:ext cx="10996456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/>
              <a:t>Observations impacting accuracy: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/>
              <a:t>Minimal Training dataset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/>
              <a:t>Class Imbalances for training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/>
              <a:t>Limited contextual Information on the SW Change set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/>
              <a:t>Limited Workflow phase information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/>
              <a:t>Relevant Story Prediction to be improvised with rich contextual information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lang="en-US"/>
            </a:br>
            <a:endParaRPr lang="en-US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lang="en-US"/>
            </a:br>
            <a:endParaRPr lang="en-US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1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C269-D493-FA8F-3F4B-45CFBD3E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63429-4F03-BE0C-503C-9A42F8E9A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48" y="551925"/>
            <a:ext cx="1467055" cy="419158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8AFEEB8-6E2A-9CA9-5C54-A3580163078B}"/>
              </a:ext>
            </a:extLst>
          </p:cNvPr>
          <p:cNvSpPr txBox="1">
            <a:spLocks/>
          </p:cNvSpPr>
          <p:nvPr/>
        </p:nvSpPr>
        <p:spPr>
          <a:xfrm flipH="1">
            <a:off x="747339" y="232199"/>
            <a:ext cx="9391549" cy="739889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Guidance for Improving Accuracy</a:t>
            </a:r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BF55D6-994A-102C-F8B5-6AE083470481}"/>
              </a:ext>
            </a:extLst>
          </p:cNvPr>
          <p:cNvSpPr/>
          <p:nvPr/>
        </p:nvSpPr>
        <p:spPr>
          <a:xfrm>
            <a:off x="785090" y="1330035"/>
            <a:ext cx="9499452" cy="4830619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6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09F2E7-AE6A-137F-429D-F27F53738396}"/>
              </a:ext>
            </a:extLst>
          </p:cNvPr>
          <p:cNvSpPr/>
          <p:nvPr/>
        </p:nvSpPr>
        <p:spPr>
          <a:xfrm>
            <a:off x="5588000" y="1496288"/>
            <a:ext cx="4410363" cy="219363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600" b="1"/>
              <a:t>2. Better Input Quality</a:t>
            </a:r>
            <a:endParaRPr lang="en-US" sz="1600"/>
          </a:p>
          <a:p>
            <a:endParaRPr 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Enrich context for each design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External Integration with SPR/RALLY for detailed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Streamline the default behavior across releases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FFCB66-120C-4B37-A26D-6530E5E983F1}"/>
              </a:ext>
            </a:extLst>
          </p:cNvPr>
          <p:cNvSpPr/>
          <p:nvPr/>
        </p:nvSpPr>
        <p:spPr>
          <a:xfrm>
            <a:off x="1039091" y="1496288"/>
            <a:ext cx="4410363" cy="2193638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/>
              <a:t>1. Balanced Training Data</a:t>
            </a:r>
            <a:endParaRPr lang="en-US" sz="1600"/>
          </a:p>
          <a:p>
            <a:endParaRPr lang="en-US" sz="1600" b="1"/>
          </a:p>
          <a:p>
            <a:pPr marL="285750" indent="-285750">
              <a:buFont typeface="Arial"/>
              <a:buChar char="•"/>
            </a:pPr>
            <a:r>
              <a:rPr lang="en-US" sz="1600"/>
              <a:t>Ensure balanced representation of YES, NO, and NA responses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Include clear justifications and workflow phases for each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Expand training samples for better learning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7FC080-C817-19F4-B348-52B53477DEA3}"/>
              </a:ext>
            </a:extLst>
          </p:cNvPr>
          <p:cNvSpPr/>
          <p:nvPr/>
        </p:nvSpPr>
        <p:spPr>
          <a:xfrm>
            <a:off x="5580251" y="3828471"/>
            <a:ext cx="4410363" cy="219363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600" b="1"/>
              <a:t>4. Improved AI Guidance</a:t>
            </a:r>
            <a:endParaRPr lang="en-US" sz="1600"/>
          </a:p>
          <a:p>
            <a:endParaRPr lang="en-US" sz="1600" b="1"/>
          </a:p>
          <a:p>
            <a:pPr marL="285750" indent="-285750">
              <a:buFont typeface="Arial"/>
              <a:buChar char="•"/>
            </a:pPr>
            <a:r>
              <a:rPr lang="en-US" sz="1600"/>
              <a:t>Provide clear decision-making instructions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Blend AI predictions with business rules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6B1287-C9E5-91AD-AA3C-A7A3897E9FBC}"/>
              </a:ext>
            </a:extLst>
          </p:cNvPr>
          <p:cNvSpPr/>
          <p:nvPr/>
        </p:nvSpPr>
        <p:spPr>
          <a:xfrm>
            <a:off x="1039091" y="3828471"/>
            <a:ext cx="4410363" cy="2193638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600" b="1"/>
              <a:t>3. Stronger Evaluation Process</a:t>
            </a:r>
            <a:endParaRPr lang="en-US" sz="1600"/>
          </a:p>
          <a:p>
            <a:endParaRPr 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Further Fine Tuning for Accuracy </a:t>
            </a:r>
            <a:r>
              <a:rPr lang="en-US" sz="1600">
                <a:ea typeface="+mn-lt"/>
                <a:cs typeface="+mn-lt"/>
              </a:rPr>
              <a:t>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Use confidence scores to flag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Validate with realistic test scenarios</a:t>
            </a:r>
          </a:p>
        </p:txBody>
      </p:sp>
    </p:spTree>
    <p:extLst>
      <p:ext uri="{BB962C8B-B14F-4D97-AF65-F5344CB8AC3E}">
        <p14:creationId xmlns:p14="http://schemas.microsoft.com/office/powerpoint/2010/main" val="387184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47354" y="0"/>
            <a:ext cx="6944995" cy="6742430"/>
            <a:chOff x="5247354" y="0"/>
            <a:chExt cx="6944995" cy="6742430"/>
          </a:xfrm>
        </p:grpSpPr>
        <p:sp>
          <p:nvSpPr>
            <p:cNvPr id="3" name="object 3"/>
            <p:cNvSpPr/>
            <p:nvPr/>
          </p:nvSpPr>
          <p:spPr>
            <a:xfrm>
              <a:off x="5412212" y="0"/>
              <a:ext cx="6779895" cy="6248400"/>
            </a:xfrm>
            <a:custGeom>
              <a:avLst/>
              <a:gdLst/>
              <a:ahLst/>
              <a:cxnLst/>
              <a:rect l="l" t="t" r="r" b="b"/>
              <a:pathLst>
                <a:path w="6779895" h="6248400">
                  <a:moveTo>
                    <a:pt x="4991854" y="1828800"/>
                  </a:moveTo>
                  <a:lnTo>
                    <a:pt x="5299647" y="1828800"/>
                  </a:lnTo>
                  <a:lnTo>
                    <a:pt x="5256564" y="1816100"/>
                  </a:lnTo>
                  <a:lnTo>
                    <a:pt x="5215122" y="1803400"/>
                  </a:lnTo>
                  <a:lnTo>
                    <a:pt x="5176333" y="1778000"/>
                  </a:lnTo>
                  <a:lnTo>
                    <a:pt x="5141208" y="1752600"/>
                  </a:lnTo>
                  <a:lnTo>
                    <a:pt x="5111936" y="1714500"/>
                  </a:lnTo>
                  <a:lnTo>
                    <a:pt x="5089982" y="1676400"/>
                  </a:lnTo>
                  <a:lnTo>
                    <a:pt x="5075346" y="1638300"/>
                  </a:lnTo>
                  <a:lnTo>
                    <a:pt x="5068028" y="1587500"/>
                  </a:lnTo>
                  <a:lnTo>
                    <a:pt x="5068028" y="1549400"/>
                  </a:lnTo>
                  <a:lnTo>
                    <a:pt x="5075346" y="1498600"/>
                  </a:lnTo>
                  <a:lnTo>
                    <a:pt x="5089982" y="1460500"/>
                  </a:lnTo>
                  <a:lnTo>
                    <a:pt x="5111936" y="1422400"/>
                  </a:lnTo>
                  <a:lnTo>
                    <a:pt x="5141209" y="1384300"/>
                  </a:lnTo>
                  <a:lnTo>
                    <a:pt x="6408864" y="127000"/>
                  </a:lnTo>
                  <a:lnTo>
                    <a:pt x="6438153" y="88900"/>
                  </a:lnTo>
                  <a:lnTo>
                    <a:pt x="6460119" y="50800"/>
                  </a:lnTo>
                  <a:lnTo>
                    <a:pt x="6474764" y="12700"/>
                  </a:lnTo>
                  <a:lnTo>
                    <a:pt x="6477284" y="0"/>
                  </a:lnTo>
                  <a:lnTo>
                    <a:pt x="5815331" y="0"/>
                  </a:lnTo>
                  <a:lnTo>
                    <a:pt x="5005030" y="800100"/>
                  </a:lnTo>
                  <a:lnTo>
                    <a:pt x="4969687" y="825500"/>
                  </a:lnTo>
                  <a:lnTo>
                    <a:pt x="4930781" y="850900"/>
                  </a:lnTo>
                  <a:lnTo>
                    <a:pt x="4889305" y="863600"/>
                  </a:lnTo>
                  <a:lnTo>
                    <a:pt x="4846249" y="876300"/>
                  </a:lnTo>
                  <a:lnTo>
                    <a:pt x="2038538" y="876300"/>
                  </a:lnTo>
                  <a:lnTo>
                    <a:pt x="2013015" y="901700"/>
                  </a:lnTo>
                  <a:lnTo>
                    <a:pt x="3508742" y="901700"/>
                  </a:lnTo>
                  <a:lnTo>
                    <a:pt x="3556353" y="914400"/>
                  </a:lnTo>
                  <a:lnTo>
                    <a:pt x="3650534" y="914400"/>
                  </a:lnTo>
                  <a:lnTo>
                    <a:pt x="3743223" y="939800"/>
                  </a:lnTo>
                  <a:lnTo>
                    <a:pt x="3788969" y="939800"/>
                  </a:lnTo>
                  <a:lnTo>
                    <a:pt x="4054079" y="1016000"/>
                  </a:lnTo>
                  <a:lnTo>
                    <a:pt x="4096557" y="1041400"/>
                  </a:lnTo>
                  <a:lnTo>
                    <a:pt x="4138504" y="1054100"/>
                  </a:lnTo>
                  <a:lnTo>
                    <a:pt x="4179907" y="1079500"/>
                  </a:lnTo>
                  <a:lnTo>
                    <a:pt x="4220748" y="1092200"/>
                  </a:lnTo>
                  <a:lnTo>
                    <a:pt x="4261013" y="1117600"/>
                  </a:lnTo>
                  <a:lnTo>
                    <a:pt x="4300685" y="1130300"/>
                  </a:lnTo>
                  <a:lnTo>
                    <a:pt x="4339749" y="1155700"/>
                  </a:lnTo>
                  <a:lnTo>
                    <a:pt x="4378189" y="1181100"/>
                  </a:lnTo>
                  <a:lnTo>
                    <a:pt x="4415990" y="1206500"/>
                  </a:lnTo>
                  <a:lnTo>
                    <a:pt x="4453136" y="1231900"/>
                  </a:lnTo>
                  <a:lnTo>
                    <a:pt x="4489611" y="1257300"/>
                  </a:lnTo>
                  <a:lnTo>
                    <a:pt x="4525399" y="1282700"/>
                  </a:lnTo>
                  <a:lnTo>
                    <a:pt x="4560486" y="1308100"/>
                  </a:lnTo>
                  <a:lnTo>
                    <a:pt x="4594854" y="1346200"/>
                  </a:lnTo>
                  <a:lnTo>
                    <a:pt x="4628489" y="1371600"/>
                  </a:lnTo>
                  <a:lnTo>
                    <a:pt x="4661374" y="1397000"/>
                  </a:lnTo>
                  <a:lnTo>
                    <a:pt x="4693495" y="1435100"/>
                  </a:lnTo>
                  <a:lnTo>
                    <a:pt x="4724835" y="1460500"/>
                  </a:lnTo>
                  <a:lnTo>
                    <a:pt x="4755379" y="1498600"/>
                  </a:lnTo>
                  <a:lnTo>
                    <a:pt x="4785111" y="1536700"/>
                  </a:lnTo>
                  <a:lnTo>
                    <a:pt x="4814015" y="1562100"/>
                  </a:lnTo>
                  <a:lnTo>
                    <a:pt x="4842076" y="1600200"/>
                  </a:lnTo>
                  <a:lnTo>
                    <a:pt x="4869278" y="1638300"/>
                  </a:lnTo>
                  <a:lnTo>
                    <a:pt x="4895605" y="1676400"/>
                  </a:lnTo>
                  <a:lnTo>
                    <a:pt x="4921042" y="1714500"/>
                  </a:lnTo>
                  <a:lnTo>
                    <a:pt x="4945573" y="1752600"/>
                  </a:lnTo>
                  <a:lnTo>
                    <a:pt x="4969182" y="1790700"/>
                  </a:lnTo>
                  <a:lnTo>
                    <a:pt x="4991854" y="1828800"/>
                  </a:lnTo>
                  <a:close/>
                </a:path>
                <a:path w="6779895" h="6248400">
                  <a:moveTo>
                    <a:pt x="2651102" y="266700"/>
                  </a:moveTo>
                  <a:lnTo>
                    <a:pt x="3963919" y="266700"/>
                  </a:lnTo>
                  <a:lnTo>
                    <a:pt x="3920580" y="254000"/>
                  </a:lnTo>
                  <a:lnTo>
                    <a:pt x="3878880" y="241300"/>
                  </a:lnTo>
                  <a:lnTo>
                    <a:pt x="3839892" y="228600"/>
                  </a:lnTo>
                  <a:lnTo>
                    <a:pt x="3804689" y="190500"/>
                  </a:lnTo>
                  <a:lnTo>
                    <a:pt x="3775396" y="152400"/>
                  </a:lnTo>
                  <a:lnTo>
                    <a:pt x="3753426" y="114300"/>
                  </a:lnTo>
                  <a:lnTo>
                    <a:pt x="3738780" y="76200"/>
                  </a:lnTo>
                  <a:lnTo>
                    <a:pt x="3731457" y="38100"/>
                  </a:lnTo>
                  <a:lnTo>
                    <a:pt x="3731457" y="0"/>
                  </a:lnTo>
                  <a:lnTo>
                    <a:pt x="2919098" y="0"/>
                  </a:lnTo>
                  <a:lnTo>
                    <a:pt x="2651102" y="266700"/>
                  </a:lnTo>
                  <a:close/>
                </a:path>
                <a:path w="6779895" h="6248400">
                  <a:moveTo>
                    <a:pt x="2434152" y="482600"/>
                  </a:moveTo>
                  <a:lnTo>
                    <a:pt x="4602101" y="482600"/>
                  </a:lnTo>
                  <a:lnTo>
                    <a:pt x="4631393" y="444500"/>
                  </a:lnTo>
                  <a:lnTo>
                    <a:pt x="4653363" y="406400"/>
                  </a:lnTo>
                  <a:lnTo>
                    <a:pt x="4668009" y="368300"/>
                  </a:lnTo>
                  <a:lnTo>
                    <a:pt x="4675332" y="317500"/>
                  </a:lnTo>
                  <a:lnTo>
                    <a:pt x="4675332" y="279400"/>
                  </a:lnTo>
                  <a:lnTo>
                    <a:pt x="4668009" y="241300"/>
                  </a:lnTo>
                  <a:lnTo>
                    <a:pt x="4653363" y="190500"/>
                  </a:lnTo>
                  <a:lnTo>
                    <a:pt x="4631393" y="152400"/>
                  </a:lnTo>
                  <a:lnTo>
                    <a:pt x="4602101" y="114300"/>
                  </a:lnTo>
                  <a:lnTo>
                    <a:pt x="4566754" y="88900"/>
                  </a:lnTo>
                  <a:lnTo>
                    <a:pt x="4527821" y="63500"/>
                  </a:lnTo>
                  <a:lnTo>
                    <a:pt x="4486332" y="50800"/>
                  </a:lnTo>
                  <a:lnTo>
                    <a:pt x="4356871" y="50800"/>
                  </a:lnTo>
                  <a:lnTo>
                    <a:pt x="4315496" y="63500"/>
                  </a:lnTo>
                  <a:lnTo>
                    <a:pt x="4276731" y="88900"/>
                  </a:lnTo>
                  <a:lnTo>
                    <a:pt x="4241611" y="114300"/>
                  </a:lnTo>
                  <a:lnTo>
                    <a:pt x="4167671" y="190500"/>
                  </a:lnTo>
                  <a:lnTo>
                    <a:pt x="4132221" y="228600"/>
                  </a:lnTo>
                  <a:lnTo>
                    <a:pt x="4093048" y="241300"/>
                  </a:lnTo>
                  <a:lnTo>
                    <a:pt x="4051226" y="254000"/>
                  </a:lnTo>
                  <a:lnTo>
                    <a:pt x="4007825" y="266700"/>
                  </a:lnTo>
                  <a:lnTo>
                    <a:pt x="2651102" y="266700"/>
                  </a:lnTo>
                  <a:lnTo>
                    <a:pt x="2434152" y="482600"/>
                  </a:lnTo>
                  <a:close/>
                </a:path>
                <a:path w="6779895" h="6248400">
                  <a:moveTo>
                    <a:pt x="4610779" y="474308"/>
                  </a:moveTo>
                  <a:lnTo>
                    <a:pt x="4641978" y="444500"/>
                  </a:lnTo>
                  <a:lnTo>
                    <a:pt x="4612685" y="469900"/>
                  </a:lnTo>
                  <a:lnTo>
                    <a:pt x="4610779" y="474308"/>
                  </a:lnTo>
                  <a:close/>
                </a:path>
                <a:path w="6779895" h="6248400">
                  <a:moveTo>
                    <a:pt x="2038538" y="876300"/>
                  </a:moveTo>
                  <a:lnTo>
                    <a:pt x="4802605" y="876300"/>
                  </a:lnTo>
                  <a:lnTo>
                    <a:pt x="4717519" y="850900"/>
                  </a:lnTo>
                  <a:lnTo>
                    <a:pt x="4678059" y="825500"/>
                  </a:lnTo>
                  <a:lnTo>
                    <a:pt x="4641978" y="800100"/>
                  </a:lnTo>
                  <a:lnTo>
                    <a:pt x="4612685" y="762000"/>
                  </a:lnTo>
                  <a:lnTo>
                    <a:pt x="4590716" y="723900"/>
                  </a:lnTo>
                  <a:lnTo>
                    <a:pt x="4576069" y="685800"/>
                  </a:lnTo>
                  <a:lnTo>
                    <a:pt x="4568746" y="647700"/>
                  </a:lnTo>
                  <a:lnTo>
                    <a:pt x="4568746" y="596900"/>
                  </a:lnTo>
                  <a:lnTo>
                    <a:pt x="4576069" y="558800"/>
                  </a:lnTo>
                  <a:lnTo>
                    <a:pt x="4590716" y="520700"/>
                  </a:lnTo>
                  <a:lnTo>
                    <a:pt x="4610779" y="474308"/>
                  </a:lnTo>
                  <a:lnTo>
                    <a:pt x="4602101" y="482600"/>
                  </a:lnTo>
                  <a:lnTo>
                    <a:pt x="2434152" y="482600"/>
                  </a:lnTo>
                  <a:lnTo>
                    <a:pt x="2038538" y="876300"/>
                  </a:lnTo>
                  <a:close/>
                </a:path>
                <a:path w="6779895" h="6248400">
                  <a:moveTo>
                    <a:pt x="1161976" y="4508500"/>
                  </a:moveTo>
                  <a:lnTo>
                    <a:pt x="1205689" y="4508500"/>
                  </a:lnTo>
                  <a:lnTo>
                    <a:pt x="1248772" y="4495800"/>
                  </a:lnTo>
                  <a:lnTo>
                    <a:pt x="1290214" y="4483100"/>
                  </a:lnTo>
                  <a:lnTo>
                    <a:pt x="1329003" y="4470400"/>
                  </a:lnTo>
                  <a:lnTo>
                    <a:pt x="1364128" y="4432300"/>
                  </a:lnTo>
                  <a:lnTo>
                    <a:pt x="1604477" y="4191000"/>
                  </a:lnTo>
                  <a:lnTo>
                    <a:pt x="1792067" y="4013200"/>
                  </a:lnTo>
                  <a:lnTo>
                    <a:pt x="1882089" y="3911600"/>
                  </a:lnTo>
                  <a:lnTo>
                    <a:pt x="1933610" y="3860800"/>
                  </a:lnTo>
                  <a:lnTo>
                    <a:pt x="1979668" y="3822700"/>
                  </a:lnTo>
                  <a:lnTo>
                    <a:pt x="1910713" y="3733800"/>
                  </a:lnTo>
                  <a:lnTo>
                    <a:pt x="1883267" y="3683000"/>
                  </a:lnTo>
                  <a:lnTo>
                    <a:pt x="1856960" y="3644900"/>
                  </a:lnTo>
                  <a:lnTo>
                    <a:pt x="1831813" y="3606800"/>
                  </a:lnTo>
                  <a:lnTo>
                    <a:pt x="1807846" y="3556000"/>
                  </a:lnTo>
                  <a:lnTo>
                    <a:pt x="1785081" y="3517900"/>
                  </a:lnTo>
                  <a:lnTo>
                    <a:pt x="1763536" y="3467100"/>
                  </a:lnTo>
                  <a:lnTo>
                    <a:pt x="1743234" y="3416300"/>
                  </a:lnTo>
                  <a:lnTo>
                    <a:pt x="1724193" y="3378200"/>
                  </a:lnTo>
                  <a:lnTo>
                    <a:pt x="1706435" y="3327400"/>
                  </a:lnTo>
                  <a:lnTo>
                    <a:pt x="1689980" y="3276600"/>
                  </a:lnTo>
                  <a:lnTo>
                    <a:pt x="1674849" y="3225800"/>
                  </a:lnTo>
                  <a:lnTo>
                    <a:pt x="1661062" y="3175000"/>
                  </a:lnTo>
                  <a:lnTo>
                    <a:pt x="1648639" y="3136900"/>
                  </a:lnTo>
                  <a:lnTo>
                    <a:pt x="1637601" y="3086100"/>
                  </a:lnTo>
                  <a:lnTo>
                    <a:pt x="1627969" y="3035300"/>
                  </a:lnTo>
                  <a:lnTo>
                    <a:pt x="1619762" y="2984500"/>
                  </a:lnTo>
                  <a:lnTo>
                    <a:pt x="1613002" y="2921000"/>
                  </a:lnTo>
                  <a:lnTo>
                    <a:pt x="1607708" y="2870200"/>
                  </a:lnTo>
                  <a:lnTo>
                    <a:pt x="1603901" y="2819400"/>
                  </a:lnTo>
                  <a:lnTo>
                    <a:pt x="1601602" y="2768600"/>
                  </a:lnTo>
                  <a:lnTo>
                    <a:pt x="1600832" y="2717800"/>
                  </a:lnTo>
                  <a:lnTo>
                    <a:pt x="1601462" y="2667000"/>
                  </a:lnTo>
                  <a:lnTo>
                    <a:pt x="1603344" y="2616200"/>
                  </a:lnTo>
                  <a:lnTo>
                    <a:pt x="1606462" y="2578100"/>
                  </a:lnTo>
                  <a:lnTo>
                    <a:pt x="1610799" y="2527300"/>
                  </a:lnTo>
                  <a:lnTo>
                    <a:pt x="1616340" y="2476500"/>
                  </a:lnTo>
                  <a:lnTo>
                    <a:pt x="1623070" y="2425700"/>
                  </a:lnTo>
                  <a:lnTo>
                    <a:pt x="1630972" y="2387600"/>
                  </a:lnTo>
                  <a:lnTo>
                    <a:pt x="1640031" y="2336800"/>
                  </a:lnTo>
                  <a:lnTo>
                    <a:pt x="1650232" y="2298700"/>
                  </a:lnTo>
                  <a:lnTo>
                    <a:pt x="1661558" y="2247900"/>
                  </a:lnTo>
                  <a:lnTo>
                    <a:pt x="1673994" y="2209800"/>
                  </a:lnTo>
                  <a:lnTo>
                    <a:pt x="1687524" y="2159000"/>
                  </a:lnTo>
                  <a:lnTo>
                    <a:pt x="1702133" y="2120900"/>
                  </a:lnTo>
                  <a:lnTo>
                    <a:pt x="1717805" y="2070100"/>
                  </a:lnTo>
                  <a:lnTo>
                    <a:pt x="1734524" y="2032000"/>
                  </a:lnTo>
                  <a:lnTo>
                    <a:pt x="1752275" y="1993900"/>
                  </a:lnTo>
                  <a:lnTo>
                    <a:pt x="1771042" y="1943100"/>
                  </a:lnTo>
                  <a:lnTo>
                    <a:pt x="1790808" y="1905000"/>
                  </a:lnTo>
                  <a:lnTo>
                    <a:pt x="1811559" y="1866900"/>
                  </a:lnTo>
                  <a:lnTo>
                    <a:pt x="1833279" y="1828800"/>
                  </a:lnTo>
                  <a:lnTo>
                    <a:pt x="1855952" y="1790700"/>
                  </a:lnTo>
                  <a:lnTo>
                    <a:pt x="1879562" y="1752600"/>
                  </a:lnTo>
                  <a:lnTo>
                    <a:pt x="1904094" y="1714500"/>
                  </a:lnTo>
                  <a:lnTo>
                    <a:pt x="1929532" y="1676400"/>
                  </a:lnTo>
                  <a:lnTo>
                    <a:pt x="1955861" y="1638300"/>
                  </a:lnTo>
                  <a:lnTo>
                    <a:pt x="1983064" y="1600200"/>
                  </a:lnTo>
                  <a:lnTo>
                    <a:pt x="2011126" y="1562100"/>
                  </a:lnTo>
                  <a:lnTo>
                    <a:pt x="2040031" y="1536700"/>
                  </a:lnTo>
                  <a:lnTo>
                    <a:pt x="2069764" y="1498600"/>
                  </a:lnTo>
                  <a:lnTo>
                    <a:pt x="2100308" y="1460500"/>
                  </a:lnTo>
                  <a:lnTo>
                    <a:pt x="2131649" y="1435100"/>
                  </a:lnTo>
                  <a:lnTo>
                    <a:pt x="2163771" y="1397000"/>
                  </a:lnTo>
                  <a:lnTo>
                    <a:pt x="2196657" y="1371600"/>
                  </a:lnTo>
                  <a:lnTo>
                    <a:pt x="2230293" y="1346200"/>
                  </a:lnTo>
                  <a:lnTo>
                    <a:pt x="2264662" y="1308100"/>
                  </a:lnTo>
                  <a:lnTo>
                    <a:pt x="2299749" y="1282700"/>
                  </a:lnTo>
                  <a:lnTo>
                    <a:pt x="2335538" y="1257300"/>
                  </a:lnTo>
                  <a:lnTo>
                    <a:pt x="2372013" y="1231900"/>
                  </a:lnTo>
                  <a:lnTo>
                    <a:pt x="2409159" y="1206500"/>
                  </a:lnTo>
                  <a:lnTo>
                    <a:pt x="2446960" y="1181100"/>
                  </a:lnTo>
                  <a:lnTo>
                    <a:pt x="2485400" y="1155700"/>
                  </a:lnTo>
                  <a:lnTo>
                    <a:pt x="2524464" y="1130300"/>
                  </a:lnTo>
                  <a:lnTo>
                    <a:pt x="2564136" y="1117600"/>
                  </a:lnTo>
                  <a:lnTo>
                    <a:pt x="2604401" y="1092200"/>
                  </a:lnTo>
                  <a:lnTo>
                    <a:pt x="2645242" y="1079500"/>
                  </a:lnTo>
                  <a:lnTo>
                    <a:pt x="2686644" y="1054100"/>
                  </a:lnTo>
                  <a:lnTo>
                    <a:pt x="2728591" y="1041400"/>
                  </a:lnTo>
                  <a:lnTo>
                    <a:pt x="2771068" y="1016000"/>
                  </a:lnTo>
                  <a:lnTo>
                    <a:pt x="3036170" y="939800"/>
                  </a:lnTo>
                  <a:lnTo>
                    <a:pt x="3081914" y="939800"/>
                  </a:lnTo>
                  <a:lnTo>
                    <a:pt x="3174599" y="914400"/>
                  </a:lnTo>
                  <a:lnTo>
                    <a:pt x="3268775" y="914400"/>
                  </a:lnTo>
                  <a:lnTo>
                    <a:pt x="3316383" y="901700"/>
                  </a:lnTo>
                  <a:lnTo>
                    <a:pt x="2013015" y="901700"/>
                  </a:lnTo>
                  <a:lnTo>
                    <a:pt x="73231" y="2832100"/>
                  </a:lnTo>
                  <a:lnTo>
                    <a:pt x="43939" y="2870200"/>
                  </a:lnTo>
                  <a:lnTo>
                    <a:pt x="21969" y="2908300"/>
                  </a:lnTo>
                  <a:lnTo>
                    <a:pt x="7323" y="2946400"/>
                  </a:lnTo>
                  <a:lnTo>
                    <a:pt x="0" y="2997200"/>
                  </a:lnTo>
                  <a:lnTo>
                    <a:pt x="0" y="3035300"/>
                  </a:lnTo>
                  <a:lnTo>
                    <a:pt x="772065" y="3035300"/>
                  </a:lnTo>
                  <a:lnTo>
                    <a:pt x="813442" y="3048000"/>
                  </a:lnTo>
                  <a:lnTo>
                    <a:pt x="852208" y="3073400"/>
                  </a:lnTo>
                  <a:lnTo>
                    <a:pt x="887328" y="3111500"/>
                  </a:lnTo>
                  <a:lnTo>
                    <a:pt x="917606" y="3136900"/>
                  </a:lnTo>
                  <a:lnTo>
                    <a:pt x="940314" y="3175000"/>
                  </a:lnTo>
                  <a:lnTo>
                    <a:pt x="955452" y="3225800"/>
                  </a:lnTo>
                  <a:lnTo>
                    <a:pt x="963022" y="3263900"/>
                  </a:lnTo>
                  <a:lnTo>
                    <a:pt x="963022" y="3302000"/>
                  </a:lnTo>
                  <a:lnTo>
                    <a:pt x="955452" y="3352800"/>
                  </a:lnTo>
                  <a:lnTo>
                    <a:pt x="940314" y="3390900"/>
                  </a:lnTo>
                  <a:lnTo>
                    <a:pt x="917606" y="3429000"/>
                  </a:lnTo>
                  <a:lnTo>
                    <a:pt x="887328" y="3467100"/>
                  </a:lnTo>
                  <a:lnTo>
                    <a:pt x="295050" y="4051300"/>
                  </a:lnTo>
                  <a:lnTo>
                    <a:pt x="265730" y="4089400"/>
                  </a:lnTo>
                  <a:lnTo>
                    <a:pt x="243692" y="4127500"/>
                  </a:lnTo>
                  <a:lnTo>
                    <a:pt x="228957" y="4178300"/>
                  </a:lnTo>
                  <a:lnTo>
                    <a:pt x="221544" y="4216400"/>
                  </a:lnTo>
                  <a:lnTo>
                    <a:pt x="221476" y="4254500"/>
                  </a:lnTo>
                  <a:lnTo>
                    <a:pt x="228772" y="4305300"/>
                  </a:lnTo>
                  <a:lnTo>
                    <a:pt x="243452" y="4343400"/>
                  </a:lnTo>
                  <a:lnTo>
                    <a:pt x="864053" y="4343400"/>
                  </a:lnTo>
                  <a:lnTo>
                    <a:pt x="890651" y="4356100"/>
                  </a:lnTo>
                  <a:lnTo>
                    <a:pt x="924608" y="4368800"/>
                  </a:lnTo>
                  <a:lnTo>
                    <a:pt x="949213" y="4394200"/>
                  </a:lnTo>
                  <a:lnTo>
                    <a:pt x="970065" y="4406900"/>
                  </a:lnTo>
                  <a:lnTo>
                    <a:pt x="992768" y="4432300"/>
                  </a:lnTo>
                  <a:lnTo>
                    <a:pt x="1001076" y="4432300"/>
                  </a:lnTo>
                  <a:lnTo>
                    <a:pt x="1037185" y="4470400"/>
                  </a:lnTo>
                  <a:lnTo>
                    <a:pt x="1076712" y="4483100"/>
                  </a:lnTo>
                  <a:lnTo>
                    <a:pt x="1161976" y="4508500"/>
                  </a:lnTo>
                  <a:close/>
                </a:path>
                <a:path w="6779895" h="6248400">
                  <a:moveTo>
                    <a:pt x="5221774" y="2616200"/>
                  </a:moveTo>
                  <a:lnTo>
                    <a:pt x="5955884" y="2616200"/>
                  </a:lnTo>
                  <a:lnTo>
                    <a:pt x="5912535" y="2603500"/>
                  </a:lnTo>
                  <a:lnTo>
                    <a:pt x="5870826" y="2590800"/>
                  </a:lnTo>
                  <a:lnTo>
                    <a:pt x="5831832" y="2565400"/>
                  </a:lnTo>
                  <a:lnTo>
                    <a:pt x="5796626" y="2540000"/>
                  </a:lnTo>
                  <a:lnTo>
                    <a:pt x="5767333" y="2501900"/>
                  </a:lnTo>
                  <a:lnTo>
                    <a:pt x="5745364" y="2463800"/>
                  </a:lnTo>
                  <a:lnTo>
                    <a:pt x="5730717" y="2425700"/>
                  </a:lnTo>
                  <a:lnTo>
                    <a:pt x="5723394" y="2374900"/>
                  </a:lnTo>
                  <a:lnTo>
                    <a:pt x="5723394" y="2336800"/>
                  </a:lnTo>
                  <a:lnTo>
                    <a:pt x="5730717" y="2298700"/>
                  </a:lnTo>
                  <a:lnTo>
                    <a:pt x="5745364" y="2247900"/>
                  </a:lnTo>
                  <a:lnTo>
                    <a:pt x="5767333" y="2209800"/>
                  </a:lnTo>
                  <a:lnTo>
                    <a:pt x="5796626" y="2184400"/>
                  </a:lnTo>
                  <a:lnTo>
                    <a:pt x="6408864" y="1574800"/>
                  </a:lnTo>
                  <a:lnTo>
                    <a:pt x="6438153" y="1536700"/>
                  </a:lnTo>
                  <a:lnTo>
                    <a:pt x="6460119" y="1498600"/>
                  </a:lnTo>
                  <a:lnTo>
                    <a:pt x="6474763" y="1447800"/>
                  </a:lnTo>
                  <a:lnTo>
                    <a:pt x="6482086" y="1409700"/>
                  </a:lnTo>
                  <a:lnTo>
                    <a:pt x="6482086" y="1371600"/>
                  </a:lnTo>
                  <a:lnTo>
                    <a:pt x="6474763" y="1320800"/>
                  </a:lnTo>
                  <a:lnTo>
                    <a:pt x="6460119" y="1282700"/>
                  </a:lnTo>
                  <a:lnTo>
                    <a:pt x="6438153" y="1244600"/>
                  </a:lnTo>
                  <a:lnTo>
                    <a:pt x="6408864" y="1206500"/>
                  </a:lnTo>
                  <a:lnTo>
                    <a:pt x="6372760" y="1181100"/>
                  </a:lnTo>
                  <a:lnTo>
                    <a:pt x="6333237" y="1155700"/>
                  </a:lnTo>
                  <a:lnTo>
                    <a:pt x="6247983" y="1130300"/>
                  </a:lnTo>
                  <a:lnTo>
                    <a:pt x="6204275" y="1130300"/>
                  </a:lnTo>
                  <a:lnTo>
                    <a:pt x="6161198" y="1143000"/>
                  </a:lnTo>
                  <a:lnTo>
                    <a:pt x="6119761" y="1155700"/>
                  </a:lnTo>
                  <a:lnTo>
                    <a:pt x="6080978" y="1181100"/>
                  </a:lnTo>
                  <a:lnTo>
                    <a:pt x="6045861" y="1206500"/>
                  </a:lnTo>
                  <a:lnTo>
                    <a:pt x="5504260" y="1752600"/>
                  </a:lnTo>
                  <a:lnTo>
                    <a:pt x="5468151" y="1778000"/>
                  </a:lnTo>
                  <a:lnTo>
                    <a:pt x="5428624" y="1803400"/>
                  </a:lnTo>
                  <a:lnTo>
                    <a:pt x="5343360" y="1828800"/>
                  </a:lnTo>
                  <a:lnTo>
                    <a:pt x="4991854" y="1828800"/>
                  </a:lnTo>
                  <a:lnTo>
                    <a:pt x="5013573" y="1866900"/>
                  </a:lnTo>
                  <a:lnTo>
                    <a:pt x="5034323" y="1905000"/>
                  </a:lnTo>
                  <a:lnTo>
                    <a:pt x="5054088" y="1943100"/>
                  </a:lnTo>
                  <a:lnTo>
                    <a:pt x="5072853" y="1993900"/>
                  </a:lnTo>
                  <a:lnTo>
                    <a:pt x="5090603" y="2032000"/>
                  </a:lnTo>
                  <a:lnTo>
                    <a:pt x="5107321" y="2070100"/>
                  </a:lnTo>
                  <a:lnTo>
                    <a:pt x="5122992" y="2120900"/>
                  </a:lnTo>
                  <a:lnTo>
                    <a:pt x="5137600" y="2159000"/>
                  </a:lnTo>
                  <a:lnTo>
                    <a:pt x="5151130" y="2209800"/>
                  </a:lnTo>
                  <a:lnTo>
                    <a:pt x="5163565" y="2247900"/>
                  </a:lnTo>
                  <a:lnTo>
                    <a:pt x="5174890" y="2298700"/>
                  </a:lnTo>
                  <a:lnTo>
                    <a:pt x="5185090" y="2336800"/>
                  </a:lnTo>
                  <a:lnTo>
                    <a:pt x="5194149" y="2387600"/>
                  </a:lnTo>
                  <a:lnTo>
                    <a:pt x="5202050" y="2425700"/>
                  </a:lnTo>
                  <a:lnTo>
                    <a:pt x="5208779" y="2476500"/>
                  </a:lnTo>
                  <a:lnTo>
                    <a:pt x="5214320" y="2527300"/>
                  </a:lnTo>
                  <a:lnTo>
                    <a:pt x="5218657" y="2578100"/>
                  </a:lnTo>
                  <a:lnTo>
                    <a:pt x="5221774" y="2616200"/>
                  </a:lnTo>
                  <a:close/>
                </a:path>
                <a:path w="6779895" h="6248400">
                  <a:moveTo>
                    <a:pt x="3220114" y="6019800"/>
                  </a:moveTo>
                  <a:lnTo>
                    <a:pt x="3350021" y="6019800"/>
                  </a:lnTo>
                  <a:lnTo>
                    <a:pt x="3391858" y="5994400"/>
                  </a:lnTo>
                  <a:lnTo>
                    <a:pt x="3431311" y="5981700"/>
                  </a:lnTo>
                  <a:lnTo>
                    <a:pt x="3467390" y="5943600"/>
                  </a:lnTo>
                  <a:lnTo>
                    <a:pt x="6779786" y="2641599"/>
                  </a:lnTo>
                  <a:lnTo>
                    <a:pt x="6779786" y="2222499"/>
                  </a:lnTo>
                  <a:lnTo>
                    <a:pt x="6740759" y="2197099"/>
                  </a:lnTo>
                  <a:lnTo>
                    <a:pt x="6699263" y="2184399"/>
                  </a:lnTo>
                  <a:lnTo>
                    <a:pt x="6656249" y="2171699"/>
                  </a:lnTo>
                  <a:lnTo>
                    <a:pt x="6612750" y="2171699"/>
                  </a:lnTo>
                  <a:lnTo>
                    <a:pt x="6569799" y="2184399"/>
                  </a:lnTo>
                  <a:lnTo>
                    <a:pt x="6528426" y="2197099"/>
                  </a:lnTo>
                  <a:lnTo>
                    <a:pt x="6489666" y="2222500"/>
                  </a:lnTo>
                  <a:lnTo>
                    <a:pt x="6454550" y="2247900"/>
                  </a:lnTo>
                  <a:lnTo>
                    <a:pt x="6159657" y="2540000"/>
                  </a:lnTo>
                  <a:lnTo>
                    <a:pt x="6124211" y="2565400"/>
                  </a:lnTo>
                  <a:lnTo>
                    <a:pt x="6085036" y="2590800"/>
                  </a:lnTo>
                  <a:lnTo>
                    <a:pt x="6043208" y="2603500"/>
                  </a:lnTo>
                  <a:lnTo>
                    <a:pt x="5999799" y="2616200"/>
                  </a:lnTo>
                  <a:lnTo>
                    <a:pt x="5221774" y="2616200"/>
                  </a:lnTo>
                  <a:lnTo>
                    <a:pt x="5223656" y="2667000"/>
                  </a:lnTo>
                  <a:lnTo>
                    <a:pt x="5224286" y="2717800"/>
                  </a:lnTo>
                  <a:lnTo>
                    <a:pt x="5223656" y="2768600"/>
                  </a:lnTo>
                  <a:lnTo>
                    <a:pt x="5221776" y="2806700"/>
                  </a:lnTo>
                  <a:lnTo>
                    <a:pt x="5218662" y="2857500"/>
                  </a:lnTo>
                  <a:lnTo>
                    <a:pt x="5214330" y="2908300"/>
                  </a:lnTo>
                  <a:lnTo>
                    <a:pt x="5208794" y="2959100"/>
                  </a:lnTo>
                  <a:lnTo>
                    <a:pt x="5202071" y="2997200"/>
                  </a:lnTo>
                  <a:lnTo>
                    <a:pt x="5194177" y="3048000"/>
                  </a:lnTo>
                  <a:lnTo>
                    <a:pt x="5185126" y="3086100"/>
                  </a:lnTo>
                  <a:lnTo>
                    <a:pt x="5174935" y="3136900"/>
                  </a:lnTo>
                  <a:lnTo>
                    <a:pt x="5163619" y="3187700"/>
                  </a:lnTo>
                  <a:lnTo>
                    <a:pt x="5151194" y="3225800"/>
                  </a:lnTo>
                  <a:lnTo>
                    <a:pt x="5137675" y="3276600"/>
                  </a:lnTo>
                  <a:lnTo>
                    <a:pt x="5123078" y="3314700"/>
                  </a:lnTo>
                  <a:lnTo>
                    <a:pt x="5107419" y="3352800"/>
                  </a:lnTo>
                  <a:lnTo>
                    <a:pt x="5090713" y="3403600"/>
                  </a:lnTo>
                  <a:lnTo>
                    <a:pt x="5072976" y="3441700"/>
                  </a:lnTo>
                  <a:lnTo>
                    <a:pt x="5054224" y="3479800"/>
                  </a:lnTo>
                  <a:lnTo>
                    <a:pt x="5034471" y="3517900"/>
                  </a:lnTo>
                  <a:lnTo>
                    <a:pt x="5013735" y="3568700"/>
                  </a:lnTo>
                  <a:lnTo>
                    <a:pt x="4992029" y="3606800"/>
                  </a:lnTo>
                  <a:lnTo>
                    <a:pt x="4969371" y="3644900"/>
                  </a:lnTo>
                  <a:lnTo>
                    <a:pt x="4945775" y="3683000"/>
                  </a:lnTo>
                  <a:lnTo>
                    <a:pt x="4921258" y="3721100"/>
                  </a:lnTo>
                  <a:lnTo>
                    <a:pt x="4895834" y="3759200"/>
                  </a:lnTo>
                  <a:lnTo>
                    <a:pt x="4869519" y="3797300"/>
                  </a:lnTo>
                  <a:lnTo>
                    <a:pt x="4842330" y="3822700"/>
                  </a:lnTo>
                  <a:lnTo>
                    <a:pt x="4814281" y="3860800"/>
                  </a:lnTo>
                  <a:lnTo>
                    <a:pt x="4785389" y="3898900"/>
                  </a:lnTo>
                  <a:lnTo>
                    <a:pt x="4755669" y="3937000"/>
                  </a:lnTo>
                  <a:lnTo>
                    <a:pt x="4725136" y="3962400"/>
                  </a:lnTo>
                  <a:lnTo>
                    <a:pt x="4693806" y="4000500"/>
                  </a:lnTo>
                  <a:lnTo>
                    <a:pt x="4661695" y="4025900"/>
                  </a:lnTo>
                  <a:lnTo>
                    <a:pt x="4628818" y="4064000"/>
                  </a:lnTo>
                  <a:lnTo>
                    <a:pt x="4595192" y="4089400"/>
                  </a:lnTo>
                  <a:lnTo>
                    <a:pt x="4560831" y="4114800"/>
                  </a:lnTo>
                  <a:lnTo>
                    <a:pt x="4525751" y="4140200"/>
                  </a:lnTo>
                  <a:lnTo>
                    <a:pt x="4489968" y="4178300"/>
                  </a:lnTo>
                  <a:lnTo>
                    <a:pt x="4453498" y="4203700"/>
                  </a:lnTo>
                  <a:lnTo>
                    <a:pt x="4416355" y="4229100"/>
                  </a:lnTo>
                  <a:lnTo>
                    <a:pt x="4378557" y="4254500"/>
                  </a:lnTo>
                  <a:lnTo>
                    <a:pt x="4340118" y="4267200"/>
                  </a:lnTo>
                  <a:lnTo>
                    <a:pt x="4261380" y="4318000"/>
                  </a:lnTo>
                  <a:lnTo>
                    <a:pt x="4221112" y="4343400"/>
                  </a:lnTo>
                  <a:lnTo>
                    <a:pt x="4180266" y="4356100"/>
                  </a:lnTo>
                  <a:lnTo>
                    <a:pt x="4138858" y="4381500"/>
                  </a:lnTo>
                  <a:lnTo>
                    <a:pt x="4054416" y="4406900"/>
                  </a:lnTo>
                  <a:lnTo>
                    <a:pt x="4011414" y="4432300"/>
                  </a:lnTo>
                  <a:lnTo>
                    <a:pt x="3834559" y="4483100"/>
                  </a:lnTo>
                  <a:lnTo>
                    <a:pt x="3789213" y="4483100"/>
                  </a:lnTo>
                  <a:lnTo>
                    <a:pt x="3697269" y="4508500"/>
                  </a:lnTo>
                  <a:lnTo>
                    <a:pt x="3650703" y="4508500"/>
                  </a:lnTo>
                  <a:lnTo>
                    <a:pt x="3603762" y="4521200"/>
                  </a:lnTo>
                  <a:lnTo>
                    <a:pt x="2721265" y="4521200"/>
                  </a:lnTo>
                  <a:lnTo>
                    <a:pt x="2517945" y="4724400"/>
                  </a:lnTo>
                  <a:lnTo>
                    <a:pt x="2486057" y="4762500"/>
                  </a:lnTo>
                  <a:lnTo>
                    <a:pt x="2462698" y="4813300"/>
                  </a:lnTo>
                  <a:lnTo>
                    <a:pt x="2447906" y="4851400"/>
                  </a:lnTo>
                  <a:lnTo>
                    <a:pt x="2441721" y="4902200"/>
                  </a:lnTo>
                  <a:lnTo>
                    <a:pt x="2444181" y="4953000"/>
                  </a:lnTo>
                  <a:lnTo>
                    <a:pt x="2455325" y="4991100"/>
                  </a:lnTo>
                  <a:lnTo>
                    <a:pt x="2475192" y="5041900"/>
                  </a:lnTo>
                  <a:lnTo>
                    <a:pt x="2503822" y="5080000"/>
                  </a:lnTo>
                  <a:lnTo>
                    <a:pt x="2532925" y="5105400"/>
                  </a:lnTo>
                  <a:lnTo>
                    <a:pt x="2555330" y="5130800"/>
                  </a:lnTo>
                  <a:lnTo>
                    <a:pt x="2574620" y="5156200"/>
                  </a:lnTo>
                  <a:lnTo>
                    <a:pt x="2594377" y="5194300"/>
                  </a:lnTo>
                  <a:lnTo>
                    <a:pt x="2605170" y="5232400"/>
                  </a:lnTo>
                  <a:lnTo>
                    <a:pt x="2610142" y="5270500"/>
                  </a:lnTo>
                  <a:lnTo>
                    <a:pt x="2604067" y="5321300"/>
                  </a:lnTo>
                  <a:lnTo>
                    <a:pt x="2581722" y="5372100"/>
                  </a:lnTo>
                  <a:lnTo>
                    <a:pt x="2537884" y="5422900"/>
                  </a:lnTo>
                  <a:lnTo>
                    <a:pt x="2154962" y="5816600"/>
                  </a:lnTo>
                  <a:lnTo>
                    <a:pt x="2125670" y="5842000"/>
                  </a:lnTo>
                  <a:lnTo>
                    <a:pt x="2120177" y="5854700"/>
                  </a:lnTo>
                  <a:lnTo>
                    <a:pt x="2965780" y="5854700"/>
                  </a:lnTo>
                  <a:lnTo>
                    <a:pt x="3027430" y="5880100"/>
                  </a:lnTo>
                  <a:lnTo>
                    <a:pt x="3050822" y="5892800"/>
                  </a:lnTo>
                  <a:lnTo>
                    <a:pt x="3070475" y="5918200"/>
                  </a:lnTo>
                  <a:lnTo>
                    <a:pt x="3090284" y="5930900"/>
                  </a:lnTo>
                  <a:lnTo>
                    <a:pt x="3096100" y="5930900"/>
                  </a:lnTo>
                  <a:lnTo>
                    <a:pt x="3098592" y="5943600"/>
                  </a:lnTo>
                  <a:lnTo>
                    <a:pt x="3104408" y="5943600"/>
                  </a:lnTo>
                  <a:lnTo>
                    <a:pt x="3139748" y="5981700"/>
                  </a:lnTo>
                  <a:lnTo>
                    <a:pt x="3178647" y="5994400"/>
                  </a:lnTo>
                  <a:lnTo>
                    <a:pt x="3220114" y="6019800"/>
                  </a:lnTo>
                  <a:close/>
                </a:path>
                <a:path w="6779895" h="6248400">
                  <a:moveTo>
                    <a:pt x="189692" y="3263900"/>
                  </a:moveTo>
                  <a:lnTo>
                    <a:pt x="320353" y="3263900"/>
                  </a:lnTo>
                  <a:lnTo>
                    <a:pt x="362050" y="3251200"/>
                  </a:lnTo>
                  <a:lnTo>
                    <a:pt x="401028" y="3225800"/>
                  </a:lnTo>
                  <a:lnTo>
                    <a:pt x="436214" y="3187700"/>
                  </a:lnTo>
                  <a:lnTo>
                    <a:pt x="526769" y="3111500"/>
                  </a:lnTo>
                  <a:lnTo>
                    <a:pt x="562136" y="3073400"/>
                  </a:lnTo>
                  <a:lnTo>
                    <a:pt x="601086" y="3048000"/>
                  </a:lnTo>
                  <a:lnTo>
                    <a:pt x="642586" y="3035300"/>
                  </a:lnTo>
                  <a:lnTo>
                    <a:pt x="0" y="3035300"/>
                  </a:lnTo>
                  <a:lnTo>
                    <a:pt x="7323" y="3073400"/>
                  </a:lnTo>
                  <a:lnTo>
                    <a:pt x="21969" y="3124200"/>
                  </a:lnTo>
                  <a:lnTo>
                    <a:pt x="43939" y="3162300"/>
                  </a:lnTo>
                  <a:lnTo>
                    <a:pt x="73231" y="3187700"/>
                  </a:lnTo>
                  <a:lnTo>
                    <a:pt x="108684" y="3225800"/>
                  </a:lnTo>
                  <a:lnTo>
                    <a:pt x="147862" y="3251200"/>
                  </a:lnTo>
                  <a:lnTo>
                    <a:pt x="189692" y="3263900"/>
                  </a:lnTo>
                  <a:close/>
                </a:path>
                <a:path w="6779895" h="6248400">
                  <a:moveTo>
                    <a:pt x="4411946" y="5880100"/>
                  </a:moveTo>
                  <a:lnTo>
                    <a:pt x="4509743" y="5880100"/>
                  </a:lnTo>
                  <a:lnTo>
                    <a:pt x="4556934" y="5867400"/>
                  </a:lnTo>
                  <a:lnTo>
                    <a:pt x="4601179" y="5842000"/>
                  </a:lnTo>
                  <a:lnTo>
                    <a:pt x="4641146" y="5816600"/>
                  </a:lnTo>
                  <a:lnTo>
                    <a:pt x="5901304" y="4546600"/>
                  </a:lnTo>
                  <a:lnTo>
                    <a:pt x="5931581" y="4521200"/>
                  </a:lnTo>
                  <a:lnTo>
                    <a:pt x="5954289" y="4483100"/>
                  </a:lnTo>
                  <a:lnTo>
                    <a:pt x="5969428" y="4432300"/>
                  </a:lnTo>
                  <a:lnTo>
                    <a:pt x="5976998" y="4394200"/>
                  </a:lnTo>
                  <a:lnTo>
                    <a:pt x="5976998" y="4343400"/>
                  </a:lnTo>
                  <a:lnTo>
                    <a:pt x="5969428" y="4305300"/>
                  </a:lnTo>
                  <a:lnTo>
                    <a:pt x="5954290" y="4267200"/>
                  </a:lnTo>
                  <a:lnTo>
                    <a:pt x="5931582" y="4229100"/>
                  </a:lnTo>
                  <a:lnTo>
                    <a:pt x="5901304" y="4191000"/>
                  </a:lnTo>
                  <a:lnTo>
                    <a:pt x="5866187" y="4165600"/>
                  </a:lnTo>
                  <a:lnTo>
                    <a:pt x="5827436" y="4140200"/>
                  </a:lnTo>
                  <a:lnTo>
                    <a:pt x="5786090" y="4127500"/>
                  </a:lnTo>
                  <a:lnTo>
                    <a:pt x="5743186" y="4114800"/>
                  </a:lnTo>
                  <a:lnTo>
                    <a:pt x="5699763" y="4114800"/>
                  </a:lnTo>
                  <a:lnTo>
                    <a:pt x="5656859" y="4127500"/>
                  </a:lnTo>
                  <a:lnTo>
                    <a:pt x="5615513" y="4140200"/>
                  </a:lnTo>
                  <a:lnTo>
                    <a:pt x="5576762" y="4165600"/>
                  </a:lnTo>
                  <a:lnTo>
                    <a:pt x="5541645" y="4191000"/>
                  </a:lnTo>
                  <a:lnTo>
                    <a:pt x="4278995" y="5448300"/>
                  </a:lnTo>
                  <a:lnTo>
                    <a:pt x="4249702" y="5486400"/>
                  </a:lnTo>
                  <a:lnTo>
                    <a:pt x="4227732" y="5524500"/>
                  </a:lnTo>
                  <a:lnTo>
                    <a:pt x="4213086" y="5562600"/>
                  </a:lnTo>
                  <a:lnTo>
                    <a:pt x="4205763" y="5613400"/>
                  </a:lnTo>
                  <a:lnTo>
                    <a:pt x="4205763" y="5651500"/>
                  </a:lnTo>
                  <a:lnTo>
                    <a:pt x="4213086" y="5702300"/>
                  </a:lnTo>
                  <a:lnTo>
                    <a:pt x="4227732" y="5740400"/>
                  </a:lnTo>
                  <a:lnTo>
                    <a:pt x="4249702" y="5778500"/>
                  </a:lnTo>
                  <a:lnTo>
                    <a:pt x="4278995" y="5816600"/>
                  </a:lnTo>
                  <a:lnTo>
                    <a:pt x="4319573" y="5842000"/>
                  </a:lnTo>
                  <a:lnTo>
                    <a:pt x="4364357" y="5867400"/>
                  </a:lnTo>
                  <a:lnTo>
                    <a:pt x="4411946" y="5880100"/>
                  </a:lnTo>
                  <a:close/>
                </a:path>
                <a:path w="6779895" h="6248400">
                  <a:moveTo>
                    <a:pt x="454896" y="4495800"/>
                  </a:moveTo>
                  <a:lnTo>
                    <a:pt x="498802" y="4495800"/>
                  </a:lnTo>
                  <a:lnTo>
                    <a:pt x="542141" y="4483100"/>
                  </a:lnTo>
                  <a:lnTo>
                    <a:pt x="583840" y="4470400"/>
                  </a:lnTo>
                  <a:lnTo>
                    <a:pt x="622828" y="4445000"/>
                  </a:lnTo>
                  <a:lnTo>
                    <a:pt x="658032" y="4419600"/>
                  </a:lnTo>
                  <a:lnTo>
                    <a:pt x="686279" y="4394200"/>
                  </a:lnTo>
                  <a:lnTo>
                    <a:pt x="738798" y="4356100"/>
                  </a:lnTo>
                  <a:lnTo>
                    <a:pt x="786810" y="4343400"/>
                  </a:lnTo>
                  <a:lnTo>
                    <a:pt x="243452" y="4343400"/>
                  </a:lnTo>
                  <a:lnTo>
                    <a:pt x="265538" y="4381500"/>
                  </a:lnTo>
                  <a:lnTo>
                    <a:pt x="295050" y="4419600"/>
                  </a:lnTo>
                  <a:lnTo>
                    <a:pt x="330500" y="4445000"/>
                  </a:lnTo>
                  <a:lnTo>
                    <a:pt x="369672" y="4470400"/>
                  </a:lnTo>
                  <a:lnTo>
                    <a:pt x="411495" y="4483100"/>
                  </a:lnTo>
                  <a:lnTo>
                    <a:pt x="454896" y="4495800"/>
                  </a:lnTo>
                  <a:close/>
                </a:path>
                <a:path w="6779895" h="6248400">
                  <a:moveTo>
                    <a:pt x="2721265" y="4521200"/>
                  </a:moveTo>
                  <a:lnTo>
                    <a:pt x="3210621" y="4521200"/>
                  </a:lnTo>
                  <a:lnTo>
                    <a:pt x="3161094" y="4508500"/>
                  </a:lnTo>
                  <a:lnTo>
                    <a:pt x="3111989" y="4508500"/>
                  </a:lnTo>
                  <a:lnTo>
                    <a:pt x="2873450" y="4445000"/>
                  </a:lnTo>
                  <a:lnTo>
                    <a:pt x="2821111" y="4432300"/>
                  </a:lnTo>
                  <a:lnTo>
                    <a:pt x="2772095" y="4470400"/>
                  </a:lnTo>
                  <a:lnTo>
                    <a:pt x="2721265" y="4521200"/>
                  </a:lnTo>
                  <a:close/>
                </a:path>
                <a:path w="6779895" h="6248400">
                  <a:moveTo>
                    <a:pt x="2286326" y="6248400"/>
                  </a:moveTo>
                  <a:lnTo>
                    <a:pt x="2384293" y="6248400"/>
                  </a:lnTo>
                  <a:lnTo>
                    <a:pt x="2432166" y="6223000"/>
                  </a:lnTo>
                  <a:lnTo>
                    <a:pt x="2477236" y="6210300"/>
                  </a:lnTo>
                  <a:lnTo>
                    <a:pt x="2517945" y="6172200"/>
                  </a:lnTo>
                  <a:lnTo>
                    <a:pt x="2767110" y="5918200"/>
                  </a:lnTo>
                  <a:lnTo>
                    <a:pt x="2824853" y="5880100"/>
                  </a:lnTo>
                  <a:lnTo>
                    <a:pt x="2878329" y="5854700"/>
                  </a:lnTo>
                  <a:lnTo>
                    <a:pt x="2120177" y="5854700"/>
                  </a:lnTo>
                  <a:lnTo>
                    <a:pt x="2103700" y="5892800"/>
                  </a:lnTo>
                  <a:lnTo>
                    <a:pt x="2089054" y="5930900"/>
                  </a:lnTo>
                  <a:lnTo>
                    <a:pt x="2081730" y="5969000"/>
                  </a:lnTo>
                  <a:lnTo>
                    <a:pt x="2081730" y="6019800"/>
                  </a:lnTo>
                  <a:lnTo>
                    <a:pt x="2089054" y="6057900"/>
                  </a:lnTo>
                  <a:lnTo>
                    <a:pt x="2103700" y="6096000"/>
                  </a:lnTo>
                  <a:lnTo>
                    <a:pt x="2125670" y="6134100"/>
                  </a:lnTo>
                  <a:lnTo>
                    <a:pt x="2154962" y="6172200"/>
                  </a:lnTo>
                  <a:lnTo>
                    <a:pt x="2194891" y="6210300"/>
                  </a:lnTo>
                  <a:lnTo>
                    <a:pt x="2239122" y="6223000"/>
                  </a:lnTo>
                  <a:lnTo>
                    <a:pt x="2286326" y="6248400"/>
                  </a:lnTo>
                  <a:close/>
                </a:path>
              </a:pathLst>
            </a:custGeom>
            <a:solidFill>
              <a:srgbClr val="005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00554" y="4130781"/>
              <a:ext cx="2133600" cy="2133600"/>
            </a:xfrm>
            <a:custGeom>
              <a:avLst/>
              <a:gdLst/>
              <a:ahLst/>
              <a:cxnLst/>
              <a:rect l="l" t="t" r="r" b="b"/>
              <a:pathLst>
                <a:path w="2133600" h="2133600">
                  <a:moveTo>
                    <a:pt x="246492" y="2133144"/>
                  </a:moveTo>
                  <a:lnTo>
                    <a:pt x="292687" y="2133144"/>
                  </a:lnTo>
                  <a:lnTo>
                    <a:pt x="338338" y="2125329"/>
                  </a:lnTo>
                  <a:lnTo>
                    <a:pt x="382349" y="2109699"/>
                  </a:lnTo>
                  <a:lnTo>
                    <a:pt x="423627" y="2086254"/>
                  </a:lnTo>
                  <a:lnTo>
                    <a:pt x="461076" y="2054994"/>
                  </a:lnTo>
                  <a:lnTo>
                    <a:pt x="2055139" y="461043"/>
                  </a:lnTo>
                  <a:lnTo>
                    <a:pt x="2086401" y="423599"/>
                  </a:lnTo>
                  <a:lnTo>
                    <a:pt x="2109847" y="382331"/>
                  </a:lnTo>
                  <a:lnTo>
                    <a:pt x="2125478" y="338330"/>
                  </a:lnTo>
                  <a:lnTo>
                    <a:pt x="2133294" y="292689"/>
                  </a:lnTo>
                  <a:lnTo>
                    <a:pt x="2133294" y="246503"/>
                  </a:lnTo>
                  <a:lnTo>
                    <a:pt x="2125478" y="200863"/>
                  </a:lnTo>
                  <a:lnTo>
                    <a:pt x="2109847" y="156862"/>
                  </a:lnTo>
                  <a:lnTo>
                    <a:pt x="2086401" y="115593"/>
                  </a:lnTo>
                  <a:lnTo>
                    <a:pt x="2055139" y="78149"/>
                  </a:lnTo>
                  <a:lnTo>
                    <a:pt x="2017721" y="46889"/>
                  </a:lnTo>
                  <a:lnTo>
                    <a:pt x="1976525" y="23444"/>
                  </a:lnTo>
                  <a:lnTo>
                    <a:pt x="1932632" y="7814"/>
                  </a:lnTo>
                  <a:lnTo>
                    <a:pt x="1887119" y="0"/>
                  </a:lnTo>
                  <a:lnTo>
                    <a:pt x="1841068" y="0"/>
                  </a:lnTo>
                  <a:lnTo>
                    <a:pt x="1795555" y="7814"/>
                  </a:lnTo>
                  <a:lnTo>
                    <a:pt x="1751662" y="23444"/>
                  </a:lnTo>
                  <a:lnTo>
                    <a:pt x="1710466" y="46889"/>
                  </a:lnTo>
                  <a:lnTo>
                    <a:pt x="1673048" y="78149"/>
                  </a:lnTo>
                  <a:lnTo>
                    <a:pt x="78155" y="1672100"/>
                  </a:lnTo>
                  <a:lnTo>
                    <a:pt x="46893" y="1709546"/>
                  </a:lnTo>
                  <a:lnTo>
                    <a:pt x="23446" y="1750821"/>
                  </a:lnTo>
                  <a:lnTo>
                    <a:pt x="7815" y="1794829"/>
                  </a:lnTo>
                  <a:lnTo>
                    <a:pt x="0" y="1840477"/>
                  </a:lnTo>
                  <a:lnTo>
                    <a:pt x="0" y="1886669"/>
                  </a:lnTo>
                  <a:lnTo>
                    <a:pt x="7815" y="1932311"/>
                  </a:lnTo>
                  <a:lnTo>
                    <a:pt x="23446" y="1976309"/>
                  </a:lnTo>
                  <a:lnTo>
                    <a:pt x="46892" y="2017569"/>
                  </a:lnTo>
                  <a:lnTo>
                    <a:pt x="78154" y="2054994"/>
                  </a:lnTo>
                  <a:lnTo>
                    <a:pt x="115583" y="2086254"/>
                  </a:lnTo>
                  <a:lnTo>
                    <a:pt x="156845" y="2109699"/>
                  </a:lnTo>
                  <a:lnTo>
                    <a:pt x="200846" y="2125329"/>
                  </a:lnTo>
                  <a:lnTo>
                    <a:pt x="246492" y="2133144"/>
                  </a:lnTo>
                  <a:close/>
                </a:path>
              </a:pathLst>
            </a:custGeom>
            <a:solidFill>
              <a:srgbClr val="00C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4744" y="4114166"/>
              <a:ext cx="1776730" cy="1776095"/>
            </a:xfrm>
            <a:custGeom>
              <a:avLst/>
              <a:gdLst/>
              <a:ahLst/>
              <a:cxnLst/>
              <a:rect l="l" t="t" r="r" b="b"/>
              <a:pathLst>
                <a:path w="1776729" h="1776095">
                  <a:moveTo>
                    <a:pt x="246174" y="1776002"/>
                  </a:moveTo>
                  <a:lnTo>
                    <a:pt x="292226" y="1776002"/>
                  </a:lnTo>
                  <a:lnTo>
                    <a:pt x="337738" y="1768187"/>
                  </a:lnTo>
                  <a:lnTo>
                    <a:pt x="381631" y="1752557"/>
                  </a:lnTo>
                  <a:lnTo>
                    <a:pt x="422827" y="1729112"/>
                  </a:lnTo>
                  <a:lnTo>
                    <a:pt x="460245" y="1697852"/>
                  </a:lnTo>
                  <a:lnTo>
                    <a:pt x="1697972" y="460213"/>
                  </a:lnTo>
                  <a:lnTo>
                    <a:pt x="1729234" y="422797"/>
                  </a:lnTo>
                  <a:lnTo>
                    <a:pt x="1752680" y="381605"/>
                  </a:lnTo>
                  <a:lnTo>
                    <a:pt x="1768311" y="337714"/>
                  </a:lnTo>
                  <a:lnTo>
                    <a:pt x="1776127" y="292205"/>
                  </a:lnTo>
                  <a:lnTo>
                    <a:pt x="1776127" y="246157"/>
                  </a:lnTo>
                  <a:lnTo>
                    <a:pt x="1768311" y="200647"/>
                  </a:lnTo>
                  <a:lnTo>
                    <a:pt x="1752680" y="156757"/>
                  </a:lnTo>
                  <a:lnTo>
                    <a:pt x="1729234" y="115565"/>
                  </a:lnTo>
                  <a:lnTo>
                    <a:pt x="1697972" y="78149"/>
                  </a:lnTo>
                  <a:lnTo>
                    <a:pt x="1660554" y="46889"/>
                  </a:lnTo>
                  <a:lnTo>
                    <a:pt x="1619358" y="23444"/>
                  </a:lnTo>
                  <a:lnTo>
                    <a:pt x="1575465" y="7814"/>
                  </a:lnTo>
                  <a:lnTo>
                    <a:pt x="1529952" y="0"/>
                  </a:lnTo>
                  <a:lnTo>
                    <a:pt x="1483901" y="0"/>
                  </a:lnTo>
                  <a:lnTo>
                    <a:pt x="1438388" y="7814"/>
                  </a:lnTo>
                  <a:lnTo>
                    <a:pt x="1394495" y="23444"/>
                  </a:lnTo>
                  <a:lnTo>
                    <a:pt x="1353299" y="46889"/>
                  </a:lnTo>
                  <a:lnTo>
                    <a:pt x="1315881" y="78149"/>
                  </a:lnTo>
                  <a:lnTo>
                    <a:pt x="78155" y="1315789"/>
                  </a:lnTo>
                  <a:lnTo>
                    <a:pt x="46893" y="1353186"/>
                  </a:lnTo>
                  <a:lnTo>
                    <a:pt x="23446" y="1394369"/>
                  </a:lnTo>
                  <a:lnTo>
                    <a:pt x="7815" y="1438256"/>
                  </a:lnTo>
                  <a:lnTo>
                    <a:pt x="0" y="1483768"/>
                  </a:lnTo>
                  <a:lnTo>
                    <a:pt x="0" y="1529822"/>
                  </a:lnTo>
                  <a:lnTo>
                    <a:pt x="7815" y="1575339"/>
                  </a:lnTo>
                  <a:lnTo>
                    <a:pt x="23446" y="1619236"/>
                  </a:lnTo>
                  <a:lnTo>
                    <a:pt x="46892" y="1660435"/>
                  </a:lnTo>
                  <a:lnTo>
                    <a:pt x="78154" y="1697852"/>
                  </a:lnTo>
                  <a:lnTo>
                    <a:pt x="115573" y="1729112"/>
                  </a:lnTo>
                  <a:lnTo>
                    <a:pt x="156768" y="1752557"/>
                  </a:lnTo>
                  <a:lnTo>
                    <a:pt x="200661" y="1768187"/>
                  </a:lnTo>
                  <a:lnTo>
                    <a:pt x="246174" y="1776002"/>
                  </a:lnTo>
                  <a:close/>
                </a:path>
              </a:pathLst>
            </a:custGeom>
            <a:solidFill>
              <a:srgbClr val="FB6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3445" y="260640"/>
              <a:ext cx="1791970" cy="1791335"/>
            </a:xfrm>
            <a:custGeom>
              <a:avLst/>
              <a:gdLst/>
              <a:ahLst/>
              <a:cxnLst/>
              <a:rect l="l" t="t" r="r" b="b"/>
              <a:pathLst>
                <a:path w="1791970" h="1791335">
                  <a:moveTo>
                    <a:pt x="238242" y="1791201"/>
                  </a:moveTo>
                  <a:lnTo>
                    <a:pt x="282773" y="1791201"/>
                  </a:lnTo>
                  <a:lnTo>
                    <a:pt x="326784" y="1783632"/>
                  </a:lnTo>
                  <a:lnTo>
                    <a:pt x="369238" y="1768494"/>
                  </a:lnTo>
                  <a:lnTo>
                    <a:pt x="409097" y="1745788"/>
                  </a:lnTo>
                  <a:lnTo>
                    <a:pt x="445322" y="1715513"/>
                  </a:lnTo>
                  <a:lnTo>
                    <a:pt x="1716280" y="444713"/>
                  </a:lnTo>
                  <a:lnTo>
                    <a:pt x="1746557" y="408485"/>
                  </a:lnTo>
                  <a:lnTo>
                    <a:pt x="1769265" y="368622"/>
                  </a:lnTo>
                  <a:lnTo>
                    <a:pt x="1784404" y="326162"/>
                  </a:lnTo>
                  <a:lnTo>
                    <a:pt x="1791973" y="282145"/>
                  </a:lnTo>
                  <a:lnTo>
                    <a:pt x="1791973" y="237610"/>
                  </a:lnTo>
                  <a:lnTo>
                    <a:pt x="1784404" y="193595"/>
                  </a:lnTo>
                  <a:lnTo>
                    <a:pt x="1769265" y="151139"/>
                  </a:lnTo>
                  <a:lnTo>
                    <a:pt x="1746557" y="111282"/>
                  </a:lnTo>
                  <a:lnTo>
                    <a:pt x="1716280" y="75062"/>
                  </a:lnTo>
                  <a:lnTo>
                    <a:pt x="1680271" y="45037"/>
                  </a:lnTo>
                  <a:lnTo>
                    <a:pt x="1640523" y="22518"/>
                  </a:lnTo>
                  <a:lnTo>
                    <a:pt x="1598096" y="7506"/>
                  </a:lnTo>
                  <a:lnTo>
                    <a:pt x="1554050" y="0"/>
                  </a:lnTo>
                  <a:lnTo>
                    <a:pt x="1509445" y="0"/>
                  </a:lnTo>
                  <a:lnTo>
                    <a:pt x="1465343" y="7506"/>
                  </a:lnTo>
                  <a:lnTo>
                    <a:pt x="1422802" y="22518"/>
                  </a:lnTo>
                  <a:lnTo>
                    <a:pt x="1382885" y="45037"/>
                  </a:lnTo>
                  <a:lnTo>
                    <a:pt x="1346651" y="75062"/>
                  </a:lnTo>
                  <a:lnTo>
                    <a:pt x="75693" y="1345910"/>
                  </a:lnTo>
                  <a:lnTo>
                    <a:pt x="45416" y="1382135"/>
                  </a:lnTo>
                  <a:lnTo>
                    <a:pt x="22708" y="1421996"/>
                  </a:lnTo>
                  <a:lnTo>
                    <a:pt x="7569" y="1464455"/>
                  </a:lnTo>
                  <a:lnTo>
                    <a:pt x="0" y="1508471"/>
                  </a:lnTo>
                  <a:lnTo>
                    <a:pt x="0" y="1553004"/>
                  </a:lnTo>
                  <a:lnTo>
                    <a:pt x="7569" y="1597014"/>
                  </a:lnTo>
                  <a:lnTo>
                    <a:pt x="22708" y="1639462"/>
                  </a:lnTo>
                  <a:lnTo>
                    <a:pt x="45416" y="1679309"/>
                  </a:lnTo>
                  <a:lnTo>
                    <a:pt x="75693" y="1715513"/>
                  </a:lnTo>
                  <a:lnTo>
                    <a:pt x="111918" y="1745788"/>
                  </a:lnTo>
                  <a:lnTo>
                    <a:pt x="151776" y="1768494"/>
                  </a:lnTo>
                  <a:lnTo>
                    <a:pt x="194231" y="1783632"/>
                  </a:lnTo>
                  <a:lnTo>
                    <a:pt x="238242" y="1791201"/>
                  </a:lnTo>
                  <a:close/>
                </a:path>
              </a:pathLst>
            </a:custGeom>
            <a:solidFill>
              <a:srgbClr val="FFB8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99750" y="6194083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29" h="532129">
                  <a:moveTo>
                    <a:pt x="265850" y="531593"/>
                  </a:moveTo>
                  <a:lnTo>
                    <a:pt x="313641" y="527311"/>
                  </a:lnTo>
                  <a:lnTo>
                    <a:pt x="358620" y="514965"/>
                  </a:lnTo>
                  <a:lnTo>
                    <a:pt x="400036" y="495306"/>
                  </a:lnTo>
                  <a:lnTo>
                    <a:pt x="437140" y="469084"/>
                  </a:lnTo>
                  <a:lnTo>
                    <a:pt x="469180" y="437052"/>
                  </a:lnTo>
                  <a:lnTo>
                    <a:pt x="495407" y="399960"/>
                  </a:lnTo>
                  <a:lnTo>
                    <a:pt x="515069" y="358558"/>
                  </a:lnTo>
                  <a:lnTo>
                    <a:pt x="527417" y="313598"/>
                  </a:lnTo>
                  <a:lnTo>
                    <a:pt x="531700" y="265831"/>
                  </a:lnTo>
                  <a:lnTo>
                    <a:pt x="527417" y="218043"/>
                  </a:lnTo>
                  <a:lnTo>
                    <a:pt x="515069" y="173067"/>
                  </a:lnTo>
                  <a:lnTo>
                    <a:pt x="495407" y="131654"/>
                  </a:lnTo>
                  <a:lnTo>
                    <a:pt x="469180" y="94553"/>
                  </a:lnTo>
                  <a:lnTo>
                    <a:pt x="437140" y="62515"/>
                  </a:lnTo>
                  <a:lnTo>
                    <a:pt x="400036" y="36290"/>
                  </a:lnTo>
                  <a:lnTo>
                    <a:pt x="358620" y="16629"/>
                  </a:lnTo>
                  <a:lnTo>
                    <a:pt x="313641" y="4282"/>
                  </a:lnTo>
                  <a:lnTo>
                    <a:pt x="265850" y="0"/>
                  </a:lnTo>
                  <a:lnTo>
                    <a:pt x="218077" y="4282"/>
                  </a:lnTo>
                  <a:lnTo>
                    <a:pt x="173108" y="16629"/>
                  </a:lnTo>
                  <a:lnTo>
                    <a:pt x="131694" y="36290"/>
                  </a:lnTo>
                  <a:lnTo>
                    <a:pt x="94588" y="62515"/>
                  </a:lnTo>
                  <a:lnTo>
                    <a:pt x="62542" y="94553"/>
                  </a:lnTo>
                  <a:lnTo>
                    <a:pt x="36308" y="131654"/>
                  </a:lnTo>
                  <a:lnTo>
                    <a:pt x="16638" y="173068"/>
                  </a:lnTo>
                  <a:lnTo>
                    <a:pt x="4284" y="218043"/>
                  </a:lnTo>
                  <a:lnTo>
                    <a:pt x="0" y="265831"/>
                  </a:lnTo>
                  <a:lnTo>
                    <a:pt x="4303" y="313598"/>
                  </a:lnTo>
                  <a:lnTo>
                    <a:pt x="16666" y="358558"/>
                  </a:lnTo>
                  <a:lnTo>
                    <a:pt x="36338" y="399960"/>
                  </a:lnTo>
                  <a:lnTo>
                    <a:pt x="62570" y="437052"/>
                  </a:lnTo>
                  <a:lnTo>
                    <a:pt x="94611" y="469084"/>
                  </a:lnTo>
                  <a:lnTo>
                    <a:pt x="131709" y="495306"/>
                  </a:lnTo>
                  <a:lnTo>
                    <a:pt x="173115" y="514965"/>
                  </a:lnTo>
                  <a:lnTo>
                    <a:pt x="218079" y="527311"/>
                  </a:lnTo>
                  <a:lnTo>
                    <a:pt x="265850" y="531593"/>
                  </a:lnTo>
                  <a:close/>
                </a:path>
              </a:pathLst>
            </a:custGeom>
            <a:solidFill>
              <a:srgbClr val="EB2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47354" y="6210697"/>
              <a:ext cx="531495" cy="532130"/>
            </a:xfrm>
            <a:custGeom>
              <a:avLst/>
              <a:gdLst/>
              <a:ahLst/>
              <a:cxnLst/>
              <a:rect l="l" t="t" r="r" b="b"/>
              <a:pathLst>
                <a:path w="531495" h="532129">
                  <a:moveTo>
                    <a:pt x="265503" y="531593"/>
                  </a:moveTo>
                  <a:lnTo>
                    <a:pt x="313295" y="527311"/>
                  </a:lnTo>
                  <a:lnTo>
                    <a:pt x="358274" y="514965"/>
                  </a:lnTo>
                  <a:lnTo>
                    <a:pt x="399690" y="495306"/>
                  </a:lnTo>
                  <a:lnTo>
                    <a:pt x="436794" y="469084"/>
                  </a:lnTo>
                  <a:lnTo>
                    <a:pt x="468834" y="437052"/>
                  </a:lnTo>
                  <a:lnTo>
                    <a:pt x="495061" y="399960"/>
                  </a:lnTo>
                  <a:lnTo>
                    <a:pt x="514723" y="358558"/>
                  </a:lnTo>
                  <a:lnTo>
                    <a:pt x="527071" y="313598"/>
                  </a:lnTo>
                  <a:lnTo>
                    <a:pt x="531354" y="265831"/>
                  </a:lnTo>
                  <a:lnTo>
                    <a:pt x="527071" y="218043"/>
                  </a:lnTo>
                  <a:lnTo>
                    <a:pt x="514723" y="173067"/>
                  </a:lnTo>
                  <a:lnTo>
                    <a:pt x="495061" y="131654"/>
                  </a:lnTo>
                  <a:lnTo>
                    <a:pt x="468834" y="94553"/>
                  </a:lnTo>
                  <a:lnTo>
                    <a:pt x="436794" y="62515"/>
                  </a:lnTo>
                  <a:lnTo>
                    <a:pt x="399690" y="36290"/>
                  </a:lnTo>
                  <a:lnTo>
                    <a:pt x="358274" y="16629"/>
                  </a:lnTo>
                  <a:lnTo>
                    <a:pt x="313295" y="4282"/>
                  </a:lnTo>
                  <a:lnTo>
                    <a:pt x="265504" y="0"/>
                  </a:lnTo>
                  <a:lnTo>
                    <a:pt x="217724" y="4282"/>
                  </a:lnTo>
                  <a:lnTo>
                    <a:pt x="172777" y="16629"/>
                  </a:lnTo>
                  <a:lnTo>
                    <a:pt x="131407" y="36290"/>
                  </a:lnTo>
                  <a:lnTo>
                    <a:pt x="94358" y="62515"/>
                  </a:lnTo>
                  <a:lnTo>
                    <a:pt x="62375" y="94553"/>
                  </a:lnTo>
                  <a:lnTo>
                    <a:pt x="36203" y="131654"/>
                  </a:lnTo>
                  <a:lnTo>
                    <a:pt x="16586" y="173068"/>
                  </a:lnTo>
                  <a:lnTo>
                    <a:pt x="4270" y="218043"/>
                  </a:lnTo>
                  <a:lnTo>
                    <a:pt x="0" y="265831"/>
                  </a:lnTo>
                  <a:lnTo>
                    <a:pt x="4273" y="313598"/>
                  </a:lnTo>
                  <a:lnTo>
                    <a:pt x="16594" y="358558"/>
                  </a:lnTo>
                  <a:lnTo>
                    <a:pt x="36218" y="399960"/>
                  </a:lnTo>
                  <a:lnTo>
                    <a:pt x="62397" y="437052"/>
                  </a:lnTo>
                  <a:lnTo>
                    <a:pt x="94386" y="469084"/>
                  </a:lnTo>
                  <a:lnTo>
                    <a:pt x="131437" y="495306"/>
                  </a:lnTo>
                  <a:lnTo>
                    <a:pt x="172805" y="514965"/>
                  </a:lnTo>
                  <a:lnTo>
                    <a:pt x="217743" y="527311"/>
                  </a:lnTo>
                  <a:lnTo>
                    <a:pt x="265503" y="531593"/>
                  </a:lnTo>
                  <a:close/>
                </a:path>
              </a:pathLst>
            </a:custGeom>
            <a:solidFill>
              <a:srgbClr val="FFB8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23757" y="0"/>
              <a:ext cx="532130" cy="321945"/>
            </a:xfrm>
            <a:custGeom>
              <a:avLst/>
              <a:gdLst/>
              <a:ahLst/>
              <a:cxnLst/>
              <a:rect l="l" t="t" r="r" b="b"/>
              <a:pathLst>
                <a:path w="532129" h="321945">
                  <a:moveTo>
                    <a:pt x="265780" y="321579"/>
                  </a:moveTo>
                  <a:lnTo>
                    <a:pt x="313571" y="317297"/>
                  </a:lnTo>
                  <a:lnTo>
                    <a:pt x="358550" y="304950"/>
                  </a:lnTo>
                  <a:lnTo>
                    <a:pt x="399967" y="285290"/>
                  </a:lnTo>
                  <a:lnTo>
                    <a:pt x="437071" y="259067"/>
                  </a:lnTo>
                  <a:lnTo>
                    <a:pt x="469111" y="227031"/>
                  </a:lnTo>
                  <a:lnTo>
                    <a:pt x="495338" y="189934"/>
                  </a:lnTo>
                  <a:lnTo>
                    <a:pt x="515000" y="148526"/>
                  </a:lnTo>
                  <a:lnTo>
                    <a:pt x="527348" y="103558"/>
                  </a:lnTo>
                  <a:lnTo>
                    <a:pt x="531631" y="55779"/>
                  </a:lnTo>
                  <a:lnTo>
                    <a:pt x="527348" y="8001"/>
                  </a:lnTo>
                  <a:lnTo>
                    <a:pt x="525151" y="0"/>
                  </a:lnTo>
                  <a:lnTo>
                    <a:pt x="6479" y="0"/>
                  </a:lnTo>
                  <a:lnTo>
                    <a:pt x="4282" y="8001"/>
                  </a:lnTo>
                  <a:lnTo>
                    <a:pt x="0" y="55779"/>
                  </a:lnTo>
                  <a:lnTo>
                    <a:pt x="4282" y="103558"/>
                  </a:lnTo>
                  <a:lnTo>
                    <a:pt x="16629" y="148526"/>
                  </a:lnTo>
                  <a:lnTo>
                    <a:pt x="36290" y="189934"/>
                  </a:lnTo>
                  <a:lnTo>
                    <a:pt x="62513" y="227031"/>
                  </a:lnTo>
                  <a:lnTo>
                    <a:pt x="94547" y="259067"/>
                  </a:lnTo>
                  <a:lnTo>
                    <a:pt x="131642" y="285290"/>
                  </a:lnTo>
                  <a:lnTo>
                    <a:pt x="173047" y="304950"/>
                  </a:lnTo>
                  <a:lnTo>
                    <a:pt x="218010" y="317297"/>
                  </a:lnTo>
                  <a:lnTo>
                    <a:pt x="265780" y="321579"/>
                  </a:lnTo>
                  <a:close/>
                </a:path>
              </a:pathLst>
            </a:custGeom>
            <a:solidFill>
              <a:srgbClr val="FB6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84457" y="139019"/>
              <a:ext cx="1183005" cy="1180465"/>
            </a:xfrm>
            <a:custGeom>
              <a:avLst/>
              <a:gdLst/>
              <a:ahLst/>
              <a:cxnLst/>
              <a:rect l="l" t="t" r="r" b="b"/>
              <a:pathLst>
                <a:path w="1183004" h="1180465">
                  <a:moveTo>
                    <a:pt x="1063354" y="0"/>
                  </a:moveTo>
                  <a:lnTo>
                    <a:pt x="1019257" y="0"/>
                  </a:lnTo>
                  <a:lnTo>
                    <a:pt x="976616" y="13350"/>
                  </a:lnTo>
                  <a:lnTo>
                    <a:pt x="938712" y="40050"/>
                  </a:lnTo>
                  <a:lnTo>
                    <a:pt x="41330" y="936797"/>
                  </a:lnTo>
                  <a:lnTo>
                    <a:pt x="13776" y="973831"/>
                  </a:lnTo>
                  <a:lnTo>
                    <a:pt x="0" y="1015992"/>
                  </a:lnTo>
                  <a:lnTo>
                    <a:pt x="0" y="1059994"/>
                  </a:lnTo>
                  <a:lnTo>
                    <a:pt x="13776" y="1102552"/>
                  </a:lnTo>
                  <a:lnTo>
                    <a:pt x="41330" y="1140378"/>
                  </a:lnTo>
                  <a:lnTo>
                    <a:pt x="78441" y="1167079"/>
                  </a:lnTo>
                  <a:lnTo>
                    <a:pt x="120617" y="1180429"/>
                  </a:lnTo>
                  <a:lnTo>
                    <a:pt x="164482" y="1180429"/>
                  </a:lnTo>
                  <a:lnTo>
                    <a:pt x="206658" y="1167079"/>
                  </a:lnTo>
                  <a:lnTo>
                    <a:pt x="243768" y="1140378"/>
                  </a:lnTo>
                  <a:lnTo>
                    <a:pt x="1142801" y="243631"/>
                  </a:lnTo>
                  <a:lnTo>
                    <a:pt x="1169563" y="206597"/>
                  </a:lnTo>
                  <a:lnTo>
                    <a:pt x="1182944" y="164436"/>
                  </a:lnTo>
                  <a:lnTo>
                    <a:pt x="1182944" y="120434"/>
                  </a:lnTo>
                  <a:lnTo>
                    <a:pt x="1169563" y="77877"/>
                  </a:lnTo>
                  <a:lnTo>
                    <a:pt x="1142801" y="40050"/>
                  </a:lnTo>
                  <a:lnTo>
                    <a:pt x="1105629" y="13350"/>
                  </a:lnTo>
                  <a:lnTo>
                    <a:pt x="1063354" y="0"/>
                  </a:lnTo>
                  <a:close/>
                </a:path>
              </a:pathLst>
            </a:custGeom>
            <a:solidFill>
              <a:srgbClr val="FB6C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97426" y="784620"/>
            <a:ext cx="344170" cy="974725"/>
          </a:xfrm>
          <a:custGeom>
            <a:avLst/>
            <a:gdLst/>
            <a:ahLst/>
            <a:cxnLst/>
            <a:rect l="l" t="t" r="r" b="b"/>
            <a:pathLst>
              <a:path w="344169" h="974725">
                <a:moveTo>
                  <a:pt x="250230" y="0"/>
                </a:moveTo>
                <a:lnTo>
                  <a:pt x="189463" y="21597"/>
                </a:lnTo>
                <a:lnTo>
                  <a:pt x="156633" y="76862"/>
                </a:lnTo>
                <a:lnTo>
                  <a:pt x="0" y="859992"/>
                </a:lnTo>
                <a:lnTo>
                  <a:pt x="1127" y="902805"/>
                </a:lnTo>
                <a:lnTo>
                  <a:pt x="19759" y="939261"/>
                </a:lnTo>
                <a:lnTo>
                  <a:pt x="51911" y="964615"/>
                </a:lnTo>
                <a:lnTo>
                  <a:pt x="93597" y="974121"/>
                </a:lnTo>
                <a:lnTo>
                  <a:pt x="126085" y="968420"/>
                </a:lnTo>
                <a:lnTo>
                  <a:pt x="154006" y="952513"/>
                </a:lnTo>
                <a:lnTo>
                  <a:pt x="175122" y="928189"/>
                </a:lnTo>
                <a:lnTo>
                  <a:pt x="187195" y="897239"/>
                </a:lnTo>
                <a:lnTo>
                  <a:pt x="343840" y="114097"/>
                </a:lnTo>
                <a:lnTo>
                  <a:pt x="342703" y="71294"/>
                </a:lnTo>
                <a:lnTo>
                  <a:pt x="324066" y="34848"/>
                </a:lnTo>
                <a:lnTo>
                  <a:pt x="291914" y="9502"/>
                </a:lnTo>
                <a:lnTo>
                  <a:pt x="250230" y="0"/>
                </a:lnTo>
                <a:close/>
              </a:path>
            </a:pathLst>
          </a:custGeom>
          <a:solidFill>
            <a:srgbClr val="005AA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284513" y="1028123"/>
            <a:ext cx="437515" cy="730885"/>
            <a:chOff x="1284513" y="1028123"/>
            <a:chExt cx="437515" cy="730885"/>
          </a:xfrm>
        </p:grpSpPr>
        <p:sp>
          <p:nvSpPr>
            <p:cNvPr id="13" name="object 13"/>
            <p:cNvSpPr/>
            <p:nvPr/>
          </p:nvSpPr>
          <p:spPr>
            <a:xfrm>
              <a:off x="1284513" y="1028123"/>
              <a:ext cx="295275" cy="730885"/>
            </a:xfrm>
            <a:custGeom>
              <a:avLst/>
              <a:gdLst/>
              <a:ahLst/>
              <a:cxnLst/>
              <a:rect l="l" t="t" r="r" b="b"/>
              <a:pathLst>
                <a:path w="295275" h="730885">
                  <a:moveTo>
                    <a:pt x="201532" y="0"/>
                  </a:moveTo>
                  <a:lnTo>
                    <a:pt x="141122" y="21796"/>
                  </a:lnTo>
                  <a:lnTo>
                    <a:pt x="107922" y="76902"/>
                  </a:lnTo>
                  <a:lnTo>
                    <a:pt x="0" y="616488"/>
                  </a:lnTo>
                  <a:lnTo>
                    <a:pt x="1137" y="659302"/>
                  </a:lnTo>
                  <a:lnTo>
                    <a:pt x="19774" y="695758"/>
                  </a:lnTo>
                  <a:lnTo>
                    <a:pt x="51926" y="721111"/>
                  </a:lnTo>
                  <a:lnTo>
                    <a:pt x="93609" y="730617"/>
                  </a:lnTo>
                  <a:lnTo>
                    <a:pt x="126097" y="724849"/>
                  </a:lnTo>
                  <a:lnTo>
                    <a:pt x="154014" y="708830"/>
                  </a:lnTo>
                  <a:lnTo>
                    <a:pt x="175121" y="684484"/>
                  </a:lnTo>
                  <a:lnTo>
                    <a:pt x="187179" y="653735"/>
                  </a:lnTo>
                  <a:lnTo>
                    <a:pt x="295142" y="114137"/>
                  </a:lnTo>
                  <a:lnTo>
                    <a:pt x="294004" y="71327"/>
                  </a:lnTo>
                  <a:lnTo>
                    <a:pt x="275367" y="34868"/>
                  </a:lnTo>
                  <a:lnTo>
                    <a:pt x="243215" y="9508"/>
                  </a:lnTo>
                  <a:lnTo>
                    <a:pt x="201532" y="0"/>
                  </a:lnTo>
                  <a:close/>
                </a:path>
              </a:pathLst>
            </a:custGeom>
            <a:solidFill>
              <a:srgbClr val="005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6630" y="1563911"/>
              <a:ext cx="194834" cy="194830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7326" y="785058"/>
            <a:ext cx="194834" cy="194866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80430" y="1174273"/>
            <a:ext cx="626745" cy="194945"/>
          </a:xfrm>
          <a:custGeom>
            <a:avLst/>
            <a:gdLst/>
            <a:ahLst/>
            <a:cxnLst/>
            <a:rect l="l" t="t" r="r" b="b"/>
            <a:pathLst>
              <a:path w="626744" h="194944">
                <a:moveTo>
                  <a:pt x="532918" y="0"/>
                </a:moveTo>
                <a:lnTo>
                  <a:pt x="94554" y="0"/>
                </a:lnTo>
                <a:lnTo>
                  <a:pt x="61797" y="5697"/>
                </a:lnTo>
                <a:lnTo>
                  <a:pt x="33786" y="21597"/>
                </a:lnTo>
                <a:lnTo>
                  <a:pt x="12759" y="45914"/>
                </a:lnTo>
                <a:lnTo>
                  <a:pt x="955" y="76862"/>
                </a:lnTo>
                <a:lnTo>
                  <a:pt x="0" y="80689"/>
                </a:lnTo>
                <a:lnTo>
                  <a:pt x="1126" y="123496"/>
                </a:lnTo>
                <a:lnTo>
                  <a:pt x="19758" y="159950"/>
                </a:lnTo>
                <a:lnTo>
                  <a:pt x="51909" y="185304"/>
                </a:lnTo>
                <a:lnTo>
                  <a:pt x="93597" y="194810"/>
                </a:lnTo>
                <a:lnTo>
                  <a:pt x="531961" y="194810"/>
                </a:lnTo>
                <a:lnTo>
                  <a:pt x="592385" y="173021"/>
                </a:lnTo>
                <a:lnTo>
                  <a:pt x="625571" y="117924"/>
                </a:lnTo>
                <a:lnTo>
                  <a:pt x="626527" y="114097"/>
                </a:lnTo>
                <a:lnTo>
                  <a:pt x="625412" y="71294"/>
                </a:lnTo>
                <a:lnTo>
                  <a:pt x="606783" y="34848"/>
                </a:lnTo>
                <a:lnTo>
                  <a:pt x="574623" y="9502"/>
                </a:lnTo>
                <a:lnTo>
                  <a:pt x="532918" y="0"/>
                </a:lnTo>
                <a:close/>
              </a:path>
            </a:pathLst>
          </a:custGeom>
          <a:solidFill>
            <a:srgbClr val="EB2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8750" y="5099934"/>
            <a:ext cx="2258695" cy="391795"/>
          </a:xfrm>
          <a:custGeom>
            <a:avLst/>
            <a:gdLst/>
            <a:ahLst/>
            <a:cxnLst/>
            <a:rect l="l" t="t" r="r" b="b"/>
            <a:pathLst>
              <a:path w="2258695" h="391795">
                <a:moveTo>
                  <a:pt x="2062733" y="0"/>
                </a:moveTo>
                <a:lnTo>
                  <a:pt x="195834" y="0"/>
                </a:lnTo>
                <a:lnTo>
                  <a:pt x="150931" y="5169"/>
                </a:lnTo>
                <a:lnTo>
                  <a:pt x="109712" y="19896"/>
                </a:lnTo>
                <a:lnTo>
                  <a:pt x="73351" y="43007"/>
                </a:lnTo>
                <a:lnTo>
                  <a:pt x="43023" y="73329"/>
                </a:lnTo>
                <a:lnTo>
                  <a:pt x="19905" y="109690"/>
                </a:lnTo>
                <a:lnTo>
                  <a:pt x="5172" y="150915"/>
                </a:lnTo>
                <a:lnTo>
                  <a:pt x="0" y="195834"/>
                </a:lnTo>
                <a:lnTo>
                  <a:pt x="5172" y="240752"/>
                </a:lnTo>
                <a:lnTo>
                  <a:pt x="19905" y="281977"/>
                </a:lnTo>
                <a:lnTo>
                  <a:pt x="43023" y="318338"/>
                </a:lnTo>
                <a:lnTo>
                  <a:pt x="73351" y="348660"/>
                </a:lnTo>
                <a:lnTo>
                  <a:pt x="109712" y="371771"/>
                </a:lnTo>
                <a:lnTo>
                  <a:pt x="150931" y="386498"/>
                </a:lnTo>
                <a:lnTo>
                  <a:pt x="195834" y="391668"/>
                </a:lnTo>
                <a:lnTo>
                  <a:pt x="2062733" y="391668"/>
                </a:lnTo>
                <a:lnTo>
                  <a:pt x="2107652" y="386498"/>
                </a:lnTo>
                <a:lnTo>
                  <a:pt x="2148877" y="371771"/>
                </a:lnTo>
                <a:lnTo>
                  <a:pt x="2185238" y="348660"/>
                </a:lnTo>
                <a:lnTo>
                  <a:pt x="2215560" y="318338"/>
                </a:lnTo>
                <a:lnTo>
                  <a:pt x="2238671" y="281977"/>
                </a:lnTo>
                <a:lnTo>
                  <a:pt x="2253398" y="240752"/>
                </a:lnTo>
                <a:lnTo>
                  <a:pt x="2258568" y="195834"/>
                </a:lnTo>
                <a:lnTo>
                  <a:pt x="2253398" y="150915"/>
                </a:lnTo>
                <a:lnTo>
                  <a:pt x="2238671" y="109690"/>
                </a:lnTo>
                <a:lnTo>
                  <a:pt x="2215560" y="73329"/>
                </a:lnTo>
                <a:lnTo>
                  <a:pt x="2185238" y="43007"/>
                </a:lnTo>
                <a:lnTo>
                  <a:pt x="2148877" y="19896"/>
                </a:lnTo>
                <a:lnTo>
                  <a:pt x="2107652" y="5169"/>
                </a:lnTo>
                <a:lnTo>
                  <a:pt x="2062733" y="0"/>
                </a:lnTo>
                <a:close/>
              </a:path>
            </a:pathLst>
          </a:custGeom>
          <a:solidFill>
            <a:srgbClr val="005A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9412" y="3817620"/>
            <a:ext cx="2257425" cy="391795"/>
          </a:xfrm>
          <a:custGeom>
            <a:avLst/>
            <a:gdLst/>
            <a:ahLst/>
            <a:cxnLst/>
            <a:rect l="l" t="t" r="r" b="b"/>
            <a:pathLst>
              <a:path w="2257425" h="391795">
                <a:moveTo>
                  <a:pt x="2061210" y="0"/>
                </a:moveTo>
                <a:lnTo>
                  <a:pt x="195834" y="0"/>
                </a:lnTo>
                <a:lnTo>
                  <a:pt x="150931" y="5169"/>
                </a:lnTo>
                <a:lnTo>
                  <a:pt x="109712" y="19896"/>
                </a:lnTo>
                <a:lnTo>
                  <a:pt x="73351" y="43007"/>
                </a:lnTo>
                <a:lnTo>
                  <a:pt x="43023" y="73329"/>
                </a:lnTo>
                <a:lnTo>
                  <a:pt x="19905" y="109690"/>
                </a:lnTo>
                <a:lnTo>
                  <a:pt x="5172" y="150915"/>
                </a:lnTo>
                <a:lnTo>
                  <a:pt x="0" y="195833"/>
                </a:lnTo>
                <a:lnTo>
                  <a:pt x="5172" y="240752"/>
                </a:lnTo>
                <a:lnTo>
                  <a:pt x="19905" y="281977"/>
                </a:lnTo>
                <a:lnTo>
                  <a:pt x="43023" y="318338"/>
                </a:lnTo>
                <a:lnTo>
                  <a:pt x="73351" y="348660"/>
                </a:lnTo>
                <a:lnTo>
                  <a:pt x="109712" y="371771"/>
                </a:lnTo>
                <a:lnTo>
                  <a:pt x="150931" y="386498"/>
                </a:lnTo>
                <a:lnTo>
                  <a:pt x="195834" y="391667"/>
                </a:lnTo>
                <a:lnTo>
                  <a:pt x="2061210" y="391667"/>
                </a:lnTo>
                <a:lnTo>
                  <a:pt x="2106128" y="386498"/>
                </a:lnTo>
                <a:lnTo>
                  <a:pt x="2147353" y="371771"/>
                </a:lnTo>
                <a:lnTo>
                  <a:pt x="2183714" y="348660"/>
                </a:lnTo>
                <a:lnTo>
                  <a:pt x="2214036" y="318338"/>
                </a:lnTo>
                <a:lnTo>
                  <a:pt x="2237147" y="281977"/>
                </a:lnTo>
                <a:lnTo>
                  <a:pt x="2251874" y="240752"/>
                </a:lnTo>
                <a:lnTo>
                  <a:pt x="2257044" y="195833"/>
                </a:lnTo>
                <a:lnTo>
                  <a:pt x="2251874" y="150915"/>
                </a:lnTo>
                <a:lnTo>
                  <a:pt x="2237147" y="109690"/>
                </a:lnTo>
                <a:lnTo>
                  <a:pt x="2214036" y="73329"/>
                </a:lnTo>
                <a:lnTo>
                  <a:pt x="2183714" y="43007"/>
                </a:lnTo>
                <a:lnTo>
                  <a:pt x="2147353" y="19896"/>
                </a:lnTo>
                <a:lnTo>
                  <a:pt x="2106128" y="5169"/>
                </a:lnTo>
                <a:lnTo>
                  <a:pt x="2061210" y="0"/>
                </a:lnTo>
                <a:close/>
              </a:path>
            </a:pathLst>
          </a:custGeom>
          <a:solidFill>
            <a:srgbClr val="FB6C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64179" y="3860291"/>
            <a:ext cx="332740" cy="332740"/>
          </a:xfrm>
          <a:custGeom>
            <a:avLst/>
            <a:gdLst/>
            <a:ahLst/>
            <a:cxnLst/>
            <a:rect l="l" t="t" r="r" b="b"/>
            <a:pathLst>
              <a:path w="332739" h="332739">
                <a:moveTo>
                  <a:pt x="166115" y="0"/>
                </a:moveTo>
                <a:lnTo>
                  <a:pt x="121972" y="5937"/>
                </a:lnTo>
                <a:lnTo>
                  <a:pt x="82295" y="22690"/>
                </a:lnTo>
                <a:lnTo>
                  <a:pt x="48672" y="48672"/>
                </a:lnTo>
                <a:lnTo>
                  <a:pt x="22690" y="82295"/>
                </a:lnTo>
                <a:lnTo>
                  <a:pt x="5937" y="121972"/>
                </a:lnTo>
                <a:lnTo>
                  <a:pt x="0" y="166115"/>
                </a:lnTo>
                <a:lnTo>
                  <a:pt x="5937" y="210259"/>
                </a:lnTo>
                <a:lnTo>
                  <a:pt x="22690" y="249935"/>
                </a:lnTo>
                <a:lnTo>
                  <a:pt x="48672" y="283559"/>
                </a:lnTo>
                <a:lnTo>
                  <a:pt x="82295" y="309541"/>
                </a:lnTo>
                <a:lnTo>
                  <a:pt x="121972" y="326294"/>
                </a:lnTo>
                <a:lnTo>
                  <a:pt x="166115" y="332231"/>
                </a:lnTo>
                <a:lnTo>
                  <a:pt x="210259" y="326294"/>
                </a:lnTo>
                <a:lnTo>
                  <a:pt x="249936" y="309541"/>
                </a:lnTo>
                <a:lnTo>
                  <a:pt x="283559" y="283559"/>
                </a:lnTo>
                <a:lnTo>
                  <a:pt x="309541" y="249935"/>
                </a:lnTo>
                <a:lnTo>
                  <a:pt x="326294" y="210259"/>
                </a:lnTo>
                <a:lnTo>
                  <a:pt x="332231" y="166115"/>
                </a:lnTo>
                <a:lnTo>
                  <a:pt x="326294" y="121972"/>
                </a:lnTo>
                <a:lnTo>
                  <a:pt x="309541" y="82295"/>
                </a:lnTo>
                <a:lnTo>
                  <a:pt x="283559" y="48672"/>
                </a:lnTo>
                <a:lnTo>
                  <a:pt x="249935" y="22690"/>
                </a:lnTo>
                <a:lnTo>
                  <a:pt x="210259" y="5937"/>
                </a:lnTo>
                <a:lnTo>
                  <a:pt x="166115" y="0"/>
                </a:lnTo>
                <a:close/>
              </a:path>
            </a:pathLst>
          </a:custGeom>
          <a:solidFill>
            <a:srgbClr val="00C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0116" y="4400417"/>
            <a:ext cx="2258695" cy="391795"/>
          </a:xfrm>
          <a:custGeom>
            <a:avLst/>
            <a:gdLst/>
            <a:ahLst/>
            <a:cxnLst/>
            <a:rect l="l" t="t" r="r" b="b"/>
            <a:pathLst>
              <a:path w="2258695" h="391795">
                <a:moveTo>
                  <a:pt x="2062733" y="0"/>
                </a:moveTo>
                <a:lnTo>
                  <a:pt x="195833" y="0"/>
                </a:lnTo>
                <a:lnTo>
                  <a:pt x="150915" y="5169"/>
                </a:lnTo>
                <a:lnTo>
                  <a:pt x="109690" y="19896"/>
                </a:lnTo>
                <a:lnTo>
                  <a:pt x="73329" y="43007"/>
                </a:lnTo>
                <a:lnTo>
                  <a:pt x="43007" y="73329"/>
                </a:lnTo>
                <a:lnTo>
                  <a:pt x="19896" y="109690"/>
                </a:lnTo>
                <a:lnTo>
                  <a:pt x="5169" y="150915"/>
                </a:lnTo>
                <a:lnTo>
                  <a:pt x="0" y="195833"/>
                </a:lnTo>
                <a:lnTo>
                  <a:pt x="5169" y="240752"/>
                </a:lnTo>
                <a:lnTo>
                  <a:pt x="19896" y="281977"/>
                </a:lnTo>
                <a:lnTo>
                  <a:pt x="43007" y="318338"/>
                </a:lnTo>
                <a:lnTo>
                  <a:pt x="73329" y="348660"/>
                </a:lnTo>
                <a:lnTo>
                  <a:pt x="109690" y="371771"/>
                </a:lnTo>
                <a:lnTo>
                  <a:pt x="150915" y="386498"/>
                </a:lnTo>
                <a:lnTo>
                  <a:pt x="195833" y="391667"/>
                </a:lnTo>
                <a:lnTo>
                  <a:pt x="2062733" y="391667"/>
                </a:lnTo>
                <a:lnTo>
                  <a:pt x="2107652" y="386498"/>
                </a:lnTo>
                <a:lnTo>
                  <a:pt x="2148877" y="371771"/>
                </a:lnTo>
                <a:lnTo>
                  <a:pt x="2185238" y="348660"/>
                </a:lnTo>
                <a:lnTo>
                  <a:pt x="2215560" y="318338"/>
                </a:lnTo>
                <a:lnTo>
                  <a:pt x="2238671" y="281977"/>
                </a:lnTo>
                <a:lnTo>
                  <a:pt x="2253398" y="240752"/>
                </a:lnTo>
                <a:lnTo>
                  <a:pt x="2258568" y="195833"/>
                </a:lnTo>
                <a:lnTo>
                  <a:pt x="2253398" y="150915"/>
                </a:lnTo>
                <a:lnTo>
                  <a:pt x="2238671" y="109690"/>
                </a:lnTo>
                <a:lnTo>
                  <a:pt x="2215560" y="73329"/>
                </a:lnTo>
                <a:lnTo>
                  <a:pt x="2185238" y="43007"/>
                </a:lnTo>
                <a:lnTo>
                  <a:pt x="2148877" y="19896"/>
                </a:lnTo>
                <a:lnTo>
                  <a:pt x="2107652" y="5169"/>
                </a:lnTo>
                <a:lnTo>
                  <a:pt x="2062733" y="0"/>
                </a:lnTo>
                <a:close/>
              </a:path>
            </a:pathLst>
          </a:custGeom>
          <a:solidFill>
            <a:srgbClr val="ED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5837" y="3878707"/>
            <a:ext cx="2823845" cy="1670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3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i="1" spc="-40">
                <a:solidFill>
                  <a:srgbClr val="FFFFFF"/>
                </a:solidFill>
                <a:latin typeface="Trebuchet MS"/>
                <a:cs typeface="Trebuchet MS"/>
              </a:rPr>
              <a:t>nn</a:t>
            </a:r>
            <a:r>
              <a:rPr sz="1600" i="1" spc="-65">
                <a:solidFill>
                  <a:srgbClr val="FFFFFF"/>
                </a:solidFill>
                <a:latin typeface="Trebuchet MS"/>
                <a:cs typeface="Trebuchet MS"/>
              </a:rPr>
              <a:t>ovati</a:t>
            </a:r>
            <a:r>
              <a:rPr sz="1600" i="1" spc="-60">
                <a:solidFill>
                  <a:srgbClr val="FFFFFF"/>
                </a:solidFill>
                <a:latin typeface="Trebuchet MS"/>
                <a:cs typeface="Trebuchet MS"/>
              </a:rPr>
              <a:t>ve</a:t>
            </a:r>
            <a:r>
              <a:rPr sz="1600" i="1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i="1" spc="4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i="1" spc="-100">
                <a:solidFill>
                  <a:srgbClr val="FFFFFF"/>
                </a:solidFill>
                <a:latin typeface="Trebuchet MS"/>
                <a:cs typeface="Trebuchet MS"/>
              </a:rPr>
              <a:t>erv</a:t>
            </a:r>
            <a:r>
              <a:rPr sz="1600" i="1" spc="-6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i="1" spc="-2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600" i="1" spc="-55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endParaRPr sz="1600">
              <a:latin typeface="Trebuchet MS"/>
              <a:cs typeface="Trebuchet MS"/>
            </a:endParaRPr>
          </a:p>
          <a:p>
            <a:pPr marL="17780" marR="5080" indent="935355">
              <a:lnSpc>
                <a:spcPct val="287200"/>
              </a:lnSpc>
            </a:pPr>
            <a:r>
              <a:rPr sz="1600" i="1" spc="-45">
                <a:solidFill>
                  <a:srgbClr val="FFFFFF"/>
                </a:solidFill>
                <a:latin typeface="Trebuchet MS"/>
                <a:cs typeface="Trebuchet MS"/>
              </a:rPr>
              <a:t>Passionate</a:t>
            </a:r>
            <a:r>
              <a:rPr sz="1600" i="1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i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i="1" spc="-75">
                <a:solidFill>
                  <a:srgbClr val="FFFFFF"/>
                </a:solidFill>
                <a:latin typeface="Trebuchet MS"/>
                <a:cs typeface="Trebuchet MS"/>
              </a:rPr>
              <a:t>mploye</a:t>
            </a:r>
            <a:r>
              <a:rPr sz="1600" i="1" spc="-45">
                <a:solidFill>
                  <a:srgbClr val="FFFFFF"/>
                </a:solidFill>
                <a:latin typeface="Trebuchet MS"/>
                <a:cs typeface="Trebuchet MS"/>
              </a:rPr>
              <a:t>es  </a:t>
            </a:r>
            <a:r>
              <a:rPr sz="1600" i="1" spc="-65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1600" i="1" spc="-3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i="1" spc="-4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600" i="1" spc="-5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600" i="1" spc="-85">
                <a:solidFill>
                  <a:srgbClr val="FFFFFF"/>
                </a:solidFill>
                <a:latin typeface="Trebuchet MS"/>
                <a:cs typeface="Trebuchet MS"/>
              </a:rPr>
              <a:t>ted</a:t>
            </a:r>
            <a:r>
              <a:rPr sz="1600" i="1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i="1" spc="-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600" i="1" spc="-1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600" i="1" spc="-6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i="1" spc="-6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600" i="1" spc="-70">
                <a:solidFill>
                  <a:srgbClr val="FFFFFF"/>
                </a:solidFill>
                <a:latin typeface="Trebuchet MS"/>
                <a:cs typeface="Trebuchet MS"/>
              </a:rPr>
              <a:t>ome</a:t>
            </a:r>
            <a:r>
              <a:rPr sz="1600" i="1" spc="-13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i="1" spc="-1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91767" y="453390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4">
                <a:moveTo>
                  <a:pt x="183641" y="0"/>
                </a:moveTo>
                <a:lnTo>
                  <a:pt x="134805" y="6556"/>
                </a:lnTo>
                <a:lnTo>
                  <a:pt x="90931" y="25061"/>
                </a:lnTo>
                <a:lnTo>
                  <a:pt x="53768" y="53768"/>
                </a:lnTo>
                <a:lnTo>
                  <a:pt x="25061" y="90931"/>
                </a:lnTo>
                <a:lnTo>
                  <a:pt x="6556" y="134805"/>
                </a:lnTo>
                <a:lnTo>
                  <a:pt x="0" y="183642"/>
                </a:lnTo>
                <a:lnTo>
                  <a:pt x="6556" y="232478"/>
                </a:lnTo>
                <a:lnTo>
                  <a:pt x="25061" y="276351"/>
                </a:lnTo>
                <a:lnTo>
                  <a:pt x="53768" y="313515"/>
                </a:lnTo>
                <a:lnTo>
                  <a:pt x="90931" y="342222"/>
                </a:lnTo>
                <a:lnTo>
                  <a:pt x="134805" y="360727"/>
                </a:lnTo>
                <a:lnTo>
                  <a:pt x="183641" y="367283"/>
                </a:lnTo>
                <a:lnTo>
                  <a:pt x="232478" y="360727"/>
                </a:lnTo>
                <a:lnTo>
                  <a:pt x="276352" y="342222"/>
                </a:lnTo>
                <a:lnTo>
                  <a:pt x="313515" y="313515"/>
                </a:lnTo>
                <a:lnTo>
                  <a:pt x="342222" y="276351"/>
                </a:lnTo>
                <a:lnTo>
                  <a:pt x="360727" y="232478"/>
                </a:lnTo>
                <a:lnTo>
                  <a:pt x="367284" y="183642"/>
                </a:lnTo>
                <a:lnTo>
                  <a:pt x="360727" y="134805"/>
                </a:lnTo>
                <a:lnTo>
                  <a:pt x="342222" y="90932"/>
                </a:lnTo>
                <a:lnTo>
                  <a:pt x="313515" y="53768"/>
                </a:lnTo>
                <a:lnTo>
                  <a:pt x="276351" y="25061"/>
                </a:lnTo>
                <a:lnTo>
                  <a:pt x="232478" y="6556"/>
                </a:lnTo>
                <a:lnTo>
                  <a:pt x="183641" y="0"/>
                </a:lnTo>
                <a:close/>
              </a:path>
            </a:pathLst>
          </a:custGeom>
          <a:solidFill>
            <a:srgbClr val="FDB8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57144" y="5230367"/>
            <a:ext cx="368935" cy="368935"/>
          </a:xfrm>
          <a:custGeom>
            <a:avLst/>
            <a:gdLst/>
            <a:ahLst/>
            <a:cxnLst/>
            <a:rect l="l" t="t" r="r" b="b"/>
            <a:pathLst>
              <a:path w="368935" h="368935">
                <a:moveTo>
                  <a:pt x="184404" y="0"/>
                </a:moveTo>
                <a:lnTo>
                  <a:pt x="135378" y="6586"/>
                </a:lnTo>
                <a:lnTo>
                  <a:pt x="91327" y="25174"/>
                </a:lnTo>
                <a:lnTo>
                  <a:pt x="54006" y="54006"/>
                </a:lnTo>
                <a:lnTo>
                  <a:pt x="25174" y="91327"/>
                </a:lnTo>
                <a:lnTo>
                  <a:pt x="6586" y="135378"/>
                </a:lnTo>
                <a:lnTo>
                  <a:pt x="0" y="184403"/>
                </a:lnTo>
                <a:lnTo>
                  <a:pt x="6586" y="233429"/>
                </a:lnTo>
                <a:lnTo>
                  <a:pt x="25174" y="277480"/>
                </a:lnTo>
                <a:lnTo>
                  <a:pt x="54006" y="314801"/>
                </a:lnTo>
                <a:lnTo>
                  <a:pt x="91327" y="343633"/>
                </a:lnTo>
                <a:lnTo>
                  <a:pt x="135378" y="362221"/>
                </a:lnTo>
                <a:lnTo>
                  <a:pt x="184404" y="368807"/>
                </a:lnTo>
                <a:lnTo>
                  <a:pt x="233429" y="362221"/>
                </a:lnTo>
                <a:lnTo>
                  <a:pt x="277480" y="343633"/>
                </a:lnTo>
                <a:lnTo>
                  <a:pt x="314801" y="314801"/>
                </a:lnTo>
                <a:lnTo>
                  <a:pt x="343633" y="277480"/>
                </a:lnTo>
                <a:lnTo>
                  <a:pt x="362221" y="233429"/>
                </a:lnTo>
                <a:lnTo>
                  <a:pt x="368807" y="184403"/>
                </a:lnTo>
                <a:lnTo>
                  <a:pt x="362221" y="135378"/>
                </a:lnTo>
                <a:lnTo>
                  <a:pt x="343633" y="91327"/>
                </a:lnTo>
                <a:lnTo>
                  <a:pt x="314801" y="54006"/>
                </a:lnTo>
                <a:lnTo>
                  <a:pt x="277480" y="25174"/>
                </a:lnTo>
                <a:lnTo>
                  <a:pt x="233429" y="6586"/>
                </a:lnTo>
                <a:lnTo>
                  <a:pt x="184404" y="0"/>
                </a:lnTo>
                <a:close/>
              </a:path>
            </a:pathLst>
          </a:custGeom>
          <a:solidFill>
            <a:srgbClr val="EB2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7827" y="6491427"/>
            <a:ext cx="309626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>
                <a:solidFill>
                  <a:srgbClr val="7E7E7E"/>
                </a:solidFill>
                <a:latin typeface="Tahoma"/>
                <a:cs typeface="Tahoma"/>
                <a:hlinkClick r:id="rId4"/>
              </a:rPr>
              <a:t>www.hexaware.com</a:t>
            </a:r>
            <a:r>
              <a:rPr sz="800" spc="13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-105">
                <a:solidFill>
                  <a:srgbClr val="7E7E7E"/>
                </a:solidFill>
                <a:latin typeface="Tahoma"/>
                <a:cs typeface="Tahoma"/>
              </a:rPr>
              <a:t>|</a:t>
            </a:r>
            <a:r>
              <a:rPr sz="800" spc="-55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-75">
                <a:solidFill>
                  <a:srgbClr val="7E7E7E"/>
                </a:solidFill>
                <a:latin typeface="Tahoma"/>
                <a:cs typeface="Tahoma"/>
              </a:rPr>
              <a:t>©</a:t>
            </a:r>
            <a:r>
              <a:rPr sz="800" spc="-65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5">
                <a:solidFill>
                  <a:srgbClr val="7E7E7E"/>
                </a:solidFill>
                <a:latin typeface="Tahoma"/>
                <a:cs typeface="Tahoma"/>
              </a:rPr>
              <a:t>Hexaware</a:t>
            </a:r>
            <a:r>
              <a:rPr sz="800" spc="-4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-5">
                <a:solidFill>
                  <a:srgbClr val="7E7E7E"/>
                </a:solidFill>
                <a:latin typeface="Tahoma"/>
                <a:cs typeface="Tahoma"/>
              </a:rPr>
              <a:t>Technologies.</a:t>
            </a:r>
            <a:r>
              <a:rPr sz="800" spc="-55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20">
                <a:solidFill>
                  <a:srgbClr val="7E7E7E"/>
                </a:solidFill>
                <a:latin typeface="Tahoma"/>
                <a:cs typeface="Tahoma"/>
              </a:rPr>
              <a:t>All</a:t>
            </a:r>
            <a:r>
              <a:rPr sz="800" spc="-6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-5">
                <a:solidFill>
                  <a:srgbClr val="7E7E7E"/>
                </a:solidFill>
                <a:latin typeface="Tahoma"/>
                <a:cs typeface="Tahoma"/>
              </a:rPr>
              <a:t>rights</a:t>
            </a:r>
            <a:r>
              <a:rPr sz="800" spc="-6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800" spc="-10">
                <a:solidFill>
                  <a:srgbClr val="7E7E7E"/>
                </a:solidFill>
                <a:latin typeface="Tahoma"/>
                <a:cs typeface="Tahoma"/>
              </a:rPr>
              <a:t>reserved.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655307" y="710183"/>
            <a:ext cx="4075429" cy="4079875"/>
            <a:chOff x="6655307" y="710183"/>
            <a:chExt cx="4075429" cy="407987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1507" y="786383"/>
              <a:ext cx="3922776" cy="39273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93407" y="748283"/>
              <a:ext cx="3999229" cy="4003675"/>
            </a:xfrm>
            <a:custGeom>
              <a:avLst/>
              <a:gdLst/>
              <a:ahLst/>
              <a:cxnLst/>
              <a:rect l="l" t="t" r="r" b="b"/>
              <a:pathLst>
                <a:path w="3999229" h="4003675">
                  <a:moveTo>
                    <a:pt x="1999488" y="0"/>
                  </a:moveTo>
                  <a:lnTo>
                    <a:pt x="2102358" y="2539"/>
                  </a:lnTo>
                  <a:lnTo>
                    <a:pt x="2203831" y="10287"/>
                  </a:lnTo>
                  <a:lnTo>
                    <a:pt x="2303907" y="23113"/>
                  </a:lnTo>
                  <a:lnTo>
                    <a:pt x="2402459" y="40639"/>
                  </a:lnTo>
                  <a:lnTo>
                    <a:pt x="2499233" y="62991"/>
                  </a:lnTo>
                  <a:lnTo>
                    <a:pt x="2594102" y="90042"/>
                  </a:lnTo>
                  <a:lnTo>
                    <a:pt x="2686939" y="121412"/>
                  </a:lnTo>
                  <a:lnTo>
                    <a:pt x="2777744" y="157352"/>
                  </a:lnTo>
                  <a:lnTo>
                    <a:pt x="2866390" y="197357"/>
                  </a:lnTo>
                  <a:lnTo>
                    <a:pt x="2952623" y="241680"/>
                  </a:lnTo>
                  <a:lnTo>
                    <a:pt x="3036316" y="289813"/>
                  </a:lnTo>
                  <a:lnTo>
                    <a:pt x="3117469" y="341883"/>
                  </a:lnTo>
                  <a:lnTo>
                    <a:pt x="3195828" y="397763"/>
                  </a:lnTo>
                  <a:lnTo>
                    <a:pt x="3271393" y="457073"/>
                  </a:lnTo>
                  <a:lnTo>
                    <a:pt x="3343910" y="520064"/>
                  </a:lnTo>
                  <a:lnTo>
                    <a:pt x="3413379" y="586358"/>
                  </a:lnTo>
                  <a:lnTo>
                    <a:pt x="3479546" y="655827"/>
                  </a:lnTo>
                  <a:lnTo>
                    <a:pt x="3542411" y="728471"/>
                  </a:lnTo>
                  <a:lnTo>
                    <a:pt x="3601720" y="804037"/>
                  </a:lnTo>
                  <a:lnTo>
                    <a:pt x="3657473" y="882523"/>
                  </a:lnTo>
                  <a:lnTo>
                    <a:pt x="3709543" y="963802"/>
                  </a:lnTo>
                  <a:lnTo>
                    <a:pt x="3757676" y="1047623"/>
                  </a:lnTo>
                  <a:lnTo>
                    <a:pt x="3801745" y="1133855"/>
                  </a:lnTo>
                  <a:lnTo>
                    <a:pt x="3841877" y="1222628"/>
                  </a:lnTo>
                  <a:lnTo>
                    <a:pt x="3877691" y="1313561"/>
                  </a:lnTo>
                  <a:lnTo>
                    <a:pt x="3909060" y="1406525"/>
                  </a:lnTo>
                  <a:lnTo>
                    <a:pt x="3935984" y="1501520"/>
                  </a:lnTo>
                  <a:lnTo>
                    <a:pt x="3958336" y="1598421"/>
                  </a:lnTo>
                  <a:lnTo>
                    <a:pt x="3975989" y="1696974"/>
                  </a:lnTo>
                  <a:lnTo>
                    <a:pt x="3988689" y="1797177"/>
                  </a:lnTo>
                  <a:lnTo>
                    <a:pt x="3996436" y="1898777"/>
                  </a:lnTo>
                  <a:lnTo>
                    <a:pt x="3998976" y="2001774"/>
                  </a:lnTo>
                  <a:lnTo>
                    <a:pt x="3996436" y="2104770"/>
                  </a:lnTo>
                  <a:lnTo>
                    <a:pt x="3988689" y="2206370"/>
                  </a:lnTo>
                  <a:lnTo>
                    <a:pt x="3975989" y="2306574"/>
                  </a:lnTo>
                  <a:lnTo>
                    <a:pt x="3958336" y="2405126"/>
                  </a:lnTo>
                  <a:lnTo>
                    <a:pt x="3935984" y="2502027"/>
                  </a:lnTo>
                  <a:lnTo>
                    <a:pt x="3909060" y="2597023"/>
                  </a:lnTo>
                  <a:lnTo>
                    <a:pt x="3877691" y="2689987"/>
                  </a:lnTo>
                  <a:lnTo>
                    <a:pt x="3841877" y="2780918"/>
                  </a:lnTo>
                  <a:lnTo>
                    <a:pt x="3801745" y="2869691"/>
                  </a:lnTo>
                  <a:lnTo>
                    <a:pt x="3757676" y="2955924"/>
                  </a:lnTo>
                  <a:lnTo>
                    <a:pt x="3709543" y="3039745"/>
                  </a:lnTo>
                  <a:lnTo>
                    <a:pt x="3657473" y="3121024"/>
                  </a:lnTo>
                  <a:lnTo>
                    <a:pt x="3601720" y="3199510"/>
                  </a:lnTo>
                  <a:lnTo>
                    <a:pt x="3542411" y="3275076"/>
                  </a:lnTo>
                  <a:lnTo>
                    <a:pt x="3479546" y="3347720"/>
                  </a:lnTo>
                  <a:lnTo>
                    <a:pt x="3413379" y="3417189"/>
                  </a:lnTo>
                  <a:lnTo>
                    <a:pt x="3343910" y="3483482"/>
                  </a:lnTo>
                  <a:lnTo>
                    <a:pt x="3271393" y="3546475"/>
                  </a:lnTo>
                  <a:lnTo>
                    <a:pt x="3195828" y="3605783"/>
                  </a:lnTo>
                  <a:lnTo>
                    <a:pt x="3117469" y="3661664"/>
                  </a:lnTo>
                  <a:lnTo>
                    <a:pt x="3036316" y="3713733"/>
                  </a:lnTo>
                  <a:lnTo>
                    <a:pt x="2952623" y="3761866"/>
                  </a:lnTo>
                  <a:lnTo>
                    <a:pt x="2866390" y="3806190"/>
                  </a:lnTo>
                  <a:lnTo>
                    <a:pt x="2777744" y="3846195"/>
                  </a:lnTo>
                  <a:lnTo>
                    <a:pt x="2686939" y="3882135"/>
                  </a:lnTo>
                  <a:lnTo>
                    <a:pt x="2594102" y="3913504"/>
                  </a:lnTo>
                  <a:lnTo>
                    <a:pt x="2499233" y="3940555"/>
                  </a:lnTo>
                  <a:lnTo>
                    <a:pt x="2402459" y="3962907"/>
                  </a:lnTo>
                  <a:lnTo>
                    <a:pt x="2303907" y="3980433"/>
                  </a:lnTo>
                  <a:lnTo>
                    <a:pt x="2203831" y="3993260"/>
                  </a:lnTo>
                  <a:lnTo>
                    <a:pt x="2102358" y="4001007"/>
                  </a:lnTo>
                  <a:lnTo>
                    <a:pt x="1999488" y="4003548"/>
                  </a:lnTo>
                  <a:lnTo>
                    <a:pt x="1896618" y="4001007"/>
                  </a:lnTo>
                  <a:lnTo>
                    <a:pt x="1795145" y="3993260"/>
                  </a:lnTo>
                  <a:lnTo>
                    <a:pt x="1695069" y="3980433"/>
                  </a:lnTo>
                  <a:lnTo>
                    <a:pt x="1596517" y="3962907"/>
                  </a:lnTo>
                  <a:lnTo>
                    <a:pt x="1499743" y="3940555"/>
                  </a:lnTo>
                  <a:lnTo>
                    <a:pt x="1404874" y="3913504"/>
                  </a:lnTo>
                  <a:lnTo>
                    <a:pt x="1312037" y="3882135"/>
                  </a:lnTo>
                  <a:lnTo>
                    <a:pt x="1221105" y="3846195"/>
                  </a:lnTo>
                  <a:lnTo>
                    <a:pt x="1132586" y="3806190"/>
                  </a:lnTo>
                  <a:lnTo>
                    <a:pt x="1046352" y="3761866"/>
                  </a:lnTo>
                  <a:lnTo>
                    <a:pt x="962660" y="3713733"/>
                  </a:lnTo>
                  <a:lnTo>
                    <a:pt x="881507" y="3661664"/>
                  </a:lnTo>
                  <a:lnTo>
                    <a:pt x="803148" y="3605783"/>
                  </a:lnTo>
                  <a:lnTo>
                    <a:pt x="727583" y="3546475"/>
                  </a:lnTo>
                  <a:lnTo>
                    <a:pt x="655066" y="3483482"/>
                  </a:lnTo>
                  <a:lnTo>
                    <a:pt x="585597" y="3417189"/>
                  </a:lnTo>
                  <a:lnTo>
                    <a:pt x="519430" y="3347720"/>
                  </a:lnTo>
                  <a:lnTo>
                    <a:pt x="456565" y="3275076"/>
                  </a:lnTo>
                  <a:lnTo>
                    <a:pt x="397256" y="3199510"/>
                  </a:lnTo>
                  <a:lnTo>
                    <a:pt x="341502" y="3121024"/>
                  </a:lnTo>
                  <a:lnTo>
                    <a:pt x="289433" y="3039745"/>
                  </a:lnTo>
                  <a:lnTo>
                    <a:pt x="241300" y="2955924"/>
                  </a:lnTo>
                  <a:lnTo>
                    <a:pt x="197231" y="2869691"/>
                  </a:lnTo>
                  <a:lnTo>
                    <a:pt x="157099" y="2780918"/>
                  </a:lnTo>
                  <a:lnTo>
                    <a:pt x="121285" y="2689987"/>
                  </a:lnTo>
                  <a:lnTo>
                    <a:pt x="89916" y="2597023"/>
                  </a:lnTo>
                  <a:lnTo>
                    <a:pt x="62992" y="2502027"/>
                  </a:lnTo>
                  <a:lnTo>
                    <a:pt x="40640" y="2405126"/>
                  </a:lnTo>
                  <a:lnTo>
                    <a:pt x="22987" y="2306574"/>
                  </a:lnTo>
                  <a:lnTo>
                    <a:pt x="10287" y="2206370"/>
                  </a:lnTo>
                  <a:lnTo>
                    <a:pt x="2540" y="2104770"/>
                  </a:lnTo>
                  <a:lnTo>
                    <a:pt x="0" y="2001774"/>
                  </a:lnTo>
                  <a:lnTo>
                    <a:pt x="2540" y="1898777"/>
                  </a:lnTo>
                  <a:lnTo>
                    <a:pt x="10287" y="1797177"/>
                  </a:lnTo>
                  <a:lnTo>
                    <a:pt x="22987" y="1696974"/>
                  </a:lnTo>
                  <a:lnTo>
                    <a:pt x="40640" y="1598421"/>
                  </a:lnTo>
                  <a:lnTo>
                    <a:pt x="62992" y="1501520"/>
                  </a:lnTo>
                  <a:lnTo>
                    <a:pt x="89916" y="1406525"/>
                  </a:lnTo>
                  <a:lnTo>
                    <a:pt x="121285" y="1313561"/>
                  </a:lnTo>
                  <a:lnTo>
                    <a:pt x="157099" y="1222628"/>
                  </a:lnTo>
                  <a:lnTo>
                    <a:pt x="197231" y="1133855"/>
                  </a:lnTo>
                  <a:lnTo>
                    <a:pt x="241300" y="1047623"/>
                  </a:lnTo>
                  <a:lnTo>
                    <a:pt x="289433" y="963802"/>
                  </a:lnTo>
                  <a:lnTo>
                    <a:pt x="341502" y="882523"/>
                  </a:lnTo>
                  <a:lnTo>
                    <a:pt x="397256" y="804037"/>
                  </a:lnTo>
                  <a:lnTo>
                    <a:pt x="456565" y="728471"/>
                  </a:lnTo>
                  <a:lnTo>
                    <a:pt x="519430" y="655827"/>
                  </a:lnTo>
                  <a:lnTo>
                    <a:pt x="585597" y="586358"/>
                  </a:lnTo>
                  <a:lnTo>
                    <a:pt x="655066" y="520064"/>
                  </a:lnTo>
                  <a:lnTo>
                    <a:pt x="727583" y="457073"/>
                  </a:lnTo>
                  <a:lnTo>
                    <a:pt x="803148" y="397763"/>
                  </a:lnTo>
                  <a:lnTo>
                    <a:pt x="881507" y="341883"/>
                  </a:lnTo>
                  <a:lnTo>
                    <a:pt x="962660" y="289813"/>
                  </a:lnTo>
                  <a:lnTo>
                    <a:pt x="1046352" y="241680"/>
                  </a:lnTo>
                  <a:lnTo>
                    <a:pt x="1132586" y="197357"/>
                  </a:lnTo>
                  <a:lnTo>
                    <a:pt x="1221105" y="157352"/>
                  </a:lnTo>
                  <a:lnTo>
                    <a:pt x="1312037" y="121412"/>
                  </a:lnTo>
                  <a:lnTo>
                    <a:pt x="1404874" y="90042"/>
                  </a:lnTo>
                  <a:lnTo>
                    <a:pt x="1499743" y="62991"/>
                  </a:lnTo>
                  <a:lnTo>
                    <a:pt x="1596517" y="40639"/>
                  </a:lnTo>
                  <a:lnTo>
                    <a:pt x="1695069" y="23113"/>
                  </a:lnTo>
                  <a:lnTo>
                    <a:pt x="1795145" y="10287"/>
                  </a:lnTo>
                  <a:lnTo>
                    <a:pt x="1896618" y="2539"/>
                  </a:lnTo>
                  <a:lnTo>
                    <a:pt x="1999488" y="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539902" y="2393949"/>
            <a:ext cx="2368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>
                <a:solidFill>
                  <a:srgbClr val="005AAB"/>
                </a:solidFill>
                <a:latin typeface="Tahoma"/>
                <a:cs typeface="Tahoma"/>
              </a:rPr>
              <a:t>Thank</a:t>
            </a:r>
            <a:r>
              <a:rPr sz="4000" b="0" spc="-295">
                <a:solidFill>
                  <a:srgbClr val="005AAB"/>
                </a:solidFill>
                <a:latin typeface="Tahoma"/>
                <a:cs typeface="Tahoma"/>
              </a:rPr>
              <a:t> </a:t>
            </a:r>
            <a:r>
              <a:rPr sz="4000" b="0" spc="50">
                <a:solidFill>
                  <a:srgbClr val="005AAB"/>
                </a:solidFill>
                <a:latin typeface="Tahoma"/>
                <a:cs typeface="Tahoma"/>
              </a:rPr>
              <a:t>you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xaware Master">
  <a:themeElements>
    <a:clrScheme name="Custom 4">
      <a:dk1>
        <a:srgbClr val="000000"/>
      </a:dk1>
      <a:lt1>
        <a:srgbClr val="FFFFFF"/>
      </a:lt1>
      <a:dk2>
        <a:srgbClr val="07125E"/>
      </a:dk2>
      <a:lt2>
        <a:srgbClr val="FFFFFF"/>
      </a:lt2>
      <a:accent1>
        <a:srgbClr val="3C2C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EA9D00"/>
      </a:accent6>
      <a:hlink>
        <a:srgbClr val="3C2C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Light_Corporate Template.pptx" id="{41E689D6-C531-47CC-AFF0-309785A80631}" vid="{C5795010-44E4-4FE2-851A-4FC5D2C485C8}"/>
    </a:ext>
  </a:extLst>
</a:theme>
</file>

<file path=ppt/theme/theme2.xml><?xml version="1.0" encoding="utf-8"?>
<a:theme xmlns:a="http://schemas.openxmlformats.org/drawingml/2006/main" name="1_Hexaware Master">
  <a:themeElements>
    <a:clrScheme name="Hexaware">
      <a:dk1>
        <a:srgbClr val="02051C"/>
      </a:dk1>
      <a:lt1>
        <a:srgbClr val="FFFFFF"/>
      </a:lt1>
      <a:dk2>
        <a:srgbClr val="07125E"/>
      </a:dk2>
      <a:lt2>
        <a:srgbClr val="FFFFFF"/>
      </a:lt2>
      <a:accent1>
        <a:srgbClr val="3C2D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FF6300"/>
      </a:accent6>
      <a:hlink>
        <a:srgbClr val="3C2D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rk_Corporate Template.pptx" id="{0DE496D9-96E7-4561-826E-A79144D83BB8}" vid="{7132E963-DE00-4AC0-86D2-3969C5A95D7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F3B75442E2EA499EBF120FA408C09C" ma:contentTypeVersion="7" ma:contentTypeDescription="Create a new document." ma:contentTypeScope="" ma:versionID="cccc6c1a335c1f7b3f8c17645a2037c4">
  <xsd:schema xmlns:xsd="http://www.w3.org/2001/XMLSchema" xmlns:xs="http://www.w3.org/2001/XMLSchema" xmlns:p="http://schemas.microsoft.com/office/2006/metadata/properties" xmlns:ns2="9977ea42-764e-4f08-8a3b-2b1e2b15bebc" targetNamespace="http://schemas.microsoft.com/office/2006/metadata/properties" ma:root="true" ma:fieldsID="02cc4a3003d2c400fe46554b9d71276c" ns2:_="">
    <xsd:import namespace="9977ea42-764e-4f08-8a3b-2b1e2b15b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7ea42-764e-4f08-8a3b-2b1e2b15be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461687-992F-41A9-8DD4-978CDF365B12}">
  <ds:schemaRefs>
    <ds:schemaRef ds:uri="9977ea42-764e-4f08-8a3b-2b1e2b15b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8292466-1113-4FE6-9A78-1F87FE3DE7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77ea42-764e-4f08-8a3b-2b1e2b15be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CD5611-87CE-40CF-AB50-2A41DC35F9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Light_Corporate Template</Template>
  <TotalTime>0</TotalTime>
  <Words>715</Words>
  <Application>Microsoft Office PowerPoint</Application>
  <PresentationFormat>Widescreen</PresentationFormat>
  <Paragraphs>181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Cambria Math</vt:lpstr>
      <vt:lpstr>Manrope</vt:lpstr>
      <vt:lpstr>Segoe UI</vt:lpstr>
      <vt:lpstr>Tahoma</vt:lpstr>
      <vt:lpstr>Trebuchet MS</vt:lpstr>
      <vt:lpstr>Hexaware Master</vt:lpstr>
      <vt:lpstr>1_Hexaware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Overview</dc:title>
  <dc:creator>Danielle Sanders</dc:creator>
  <cp:lastModifiedBy>Sindhu K</cp:lastModifiedBy>
  <cp:revision>2</cp:revision>
  <dcterms:created xsi:type="dcterms:W3CDTF">2023-12-01T15:20:00Z</dcterms:created>
  <dcterms:modified xsi:type="dcterms:W3CDTF">2025-12-06T13:16:01Z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d23d6b4-e359-43b0-aed3-95d98a2c931f_Enabled">
    <vt:lpwstr>true</vt:lpwstr>
  </property>
  <property fmtid="{D5CDD505-2E9C-101B-9397-08002B2CF9AE}" pid="3" name="MSIP_Label_ad23d6b4-e359-43b0-aed3-95d98a2c931f_SetDate">
    <vt:lpwstr>2024-01-29T09:03:33Z</vt:lpwstr>
  </property>
  <property fmtid="{D5CDD505-2E9C-101B-9397-08002B2CF9AE}" pid="4" name="MSIP_Label_ad23d6b4-e359-43b0-aed3-95d98a2c931f_Method">
    <vt:lpwstr>Privileged</vt:lpwstr>
  </property>
  <property fmtid="{D5CDD505-2E9C-101B-9397-08002B2CF9AE}" pid="5" name="MSIP_Label_ad23d6b4-e359-43b0-aed3-95d98a2c931f_Name">
    <vt:lpwstr>Public</vt:lpwstr>
  </property>
  <property fmtid="{D5CDD505-2E9C-101B-9397-08002B2CF9AE}" pid="6" name="MSIP_Label_ad23d6b4-e359-43b0-aed3-95d98a2c931f_SiteId">
    <vt:lpwstr>7c0c36f5-af83-4c24-8844-9962e0163719</vt:lpwstr>
  </property>
  <property fmtid="{D5CDD505-2E9C-101B-9397-08002B2CF9AE}" pid="7" name="MSIP_Label_ad23d6b4-e359-43b0-aed3-95d98a2c931f_ActionId">
    <vt:lpwstr>7b7620cf-8e6e-4edc-bdb7-e7b12caf76d1</vt:lpwstr>
  </property>
  <property fmtid="{D5CDD505-2E9C-101B-9397-08002B2CF9AE}" pid="8" name="MSIP_Label_ad23d6b4-e359-43b0-aed3-95d98a2c931f_ContentBits">
    <vt:lpwstr>0</vt:lpwstr>
  </property>
  <property fmtid="{D5CDD505-2E9C-101B-9397-08002B2CF9AE}" pid="9" name="ContentTypeId">
    <vt:lpwstr>0x010100B0F3B75442E2EA499EBF120FA408C09C</vt:lpwstr>
  </property>
</Properties>
</file>